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4630400" cy="8229600"/>
  <p:notesSz cx="8229600" cy="14630400"/>
  <p:embeddedFontLst>
    <p:embeddedFont>
      <p:font typeface="Petrona"/>
      <p:regular r:id="rId43"/>
    </p:embeddedFont>
    <p:embeddedFont>
      <p:font typeface="Petrona"/>
      <p:regular r:id="rId44"/>
    </p:embeddedFont>
    <p:embeddedFont>
      <p:font typeface="Petrona"/>
      <p:regular r:id="rId45"/>
    </p:embeddedFont>
    <p:embeddedFont>
      <p:font typeface="Petrona"/>
      <p:regular r:id="rId46"/>
    </p:embeddedFont>
    <p:embeddedFont>
      <p:font typeface="Inter"/>
      <p:regular r:id="rId47"/>
    </p:embeddedFont>
    <p:embeddedFont>
      <p:font typeface="Inter"/>
      <p:regular r:id="rId48"/>
    </p:embeddedFont>
    <p:embeddedFont>
      <p:font typeface="Inter"/>
      <p:regular r:id="rId49"/>
    </p:embeddedFont>
    <p:embeddedFont>
      <p:font typeface="Inter"/>
      <p:regular r:id="rId5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font" Target="fonts/font1.fntdata"/><Relationship Id="rId44" Type="http://schemas.openxmlformats.org/officeDocument/2006/relationships/font" Target="fonts/font2.fntdata"/><Relationship Id="rId45" Type="http://schemas.openxmlformats.org/officeDocument/2006/relationships/font" Target="fonts/font3.fntdata"/><Relationship Id="rId46" Type="http://schemas.openxmlformats.org/officeDocument/2006/relationships/font" Target="fonts/font4.fntdata"/><Relationship Id="rId47" Type="http://schemas.openxmlformats.org/officeDocument/2006/relationships/font" Target="fonts/font5.fntdata"/><Relationship Id="rId48" Type="http://schemas.openxmlformats.org/officeDocument/2006/relationships/font" Target="fonts/font6.fntdata"/><Relationship Id="rId49" Type="http://schemas.openxmlformats.org/officeDocument/2006/relationships/font" Target="fonts/font7.fntdata"/><Relationship Id="rId5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slideLayout" Target="../slideLayouts/slideLayout19.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slideLayout" Target="../slideLayouts/slideLayout2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23.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svg"/><Relationship Id="rId4" Type="http://schemas.openxmlformats.org/officeDocument/2006/relationships/image" Target="../media/image-23-4.png"/><Relationship Id="rId5" Type="http://schemas.openxmlformats.org/officeDocument/2006/relationships/image" Target="../media/image-23-5.svg"/><Relationship Id="rId6" Type="http://schemas.openxmlformats.org/officeDocument/2006/relationships/image" Target="../media/image-23-6.png"/><Relationship Id="rId7" Type="http://schemas.openxmlformats.org/officeDocument/2006/relationships/image" Target="../media/image-23-7.svg"/><Relationship Id="rId8" Type="http://schemas.openxmlformats.org/officeDocument/2006/relationships/image" Target="../media/image-23-8.png"/><Relationship Id="rId9" Type="http://schemas.openxmlformats.org/officeDocument/2006/relationships/image" Target="../media/image-23-9.svg"/><Relationship Id="rId10" Type="http://schemas.openxmlformats.org/officeDocument/2006/relationships/slideLayout" Target="../slideLayouts/slideLayout24.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6.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26-5.png"/><Relationship Id="rId6" Type="http://schemas.openxmlformats.org/officeDocument/2006/relationships/image" Target="../media/image-26-6.svg"/><Relationship Id="rId7" Type="http://schemas.openxmlformats.org/officeDocument/2006/relationships/slideLayout" Target="../slideLayouts/slideLayout27.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8.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9.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0.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3.png"/><Relationship Id="rId4" Type="http://schemas.openxmlformats.org/officeDocument/2006/relationships/image" Target="../media/image-30-4.svg"/><Relationship Id="rId5" Type="http://schemas.openxmlformats.org/officeDocument/2006/relationships/image" Target="../media/image-30-5.png"/><Relationship Id="rId6" Type="http://schemas.openxmlformats.org/officeDocument/2006/relationships/image" Target="../media/image-30-6.svg"/><Relationship Id="rId7" Type="http://schemas.openxmlformats.org/officeDocument/2006/relationships/image" Target="../media/image-30-7.png"/><Relationship Id="rId8" Type="http://schemas.openxmlformats.org/officeDocument/2006/relationships/image" Target="../media/image-30-8.svg"/><Relationship Id="rId9" Type="http://schemas.openxmlformats.org/officeDocument/2006/relationships/slideLayout" Target="../slideLayouts/slideLayout31.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3.png"/><Relationship Id="rId4" Type="http://schemas.openxmlformats.org/officeDocument/2006/relationships/image" Target="../media/image-31-4.svg"/><Relationship Id="rId5" Type="http://schemas.openxmlformats.org/officeDocument/2006/relationships/image" Target="../media/image-31-5.png"/><Relationship Id="rId6" Type="http://schemas.openxmlformats.org/officeDocument/2006/relationships/image" Target="../media/image-31-6.svg"/><Relationship Id="rId7" Type="http://schemas.openxmlformats.org/officeDocument/2006/relationships/image" Target="../media/image-31-7.png"/><Relationship Id="rId8" Type="http://schemas.openxmlformats.org/officeDocument/2006/relationships/image" Target="../media/image-31-8.svg"/><Relationship Id="rId9" Type="http://schemas.openxmlformats.org/officeDocument/2006/relationships/slideLayout" Target="../slideLayouts/slideLayout32.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3.png"/><Relationship Id="rId4" Type="http://schemas.openxmlformats.org/officeDocument/2006/relationships/image" Target="../media/image-34-4.svg"/><Relationship Id="rId5" Type="http://schemas.openxmlformats.org/officeDocument/2006/relationships/image" Target="../media/image-34-5.png"/><Relationship Id="rId6" Type="http://schemas.openxmlformats.org/officeDocument/2006/relationships/image" Target="../media/image-34-6.svg"/><Relationship Id="rId7" Type="http://schemas.openxmlformats.org/officeDocument/2006/relationships/image" Target="../media/image-34-7.png"/><Relationship Id="rId8" Type="http://schemas.openxmlformats.org/officeDocument/2006/relationships/image" Target="../media/image-34-8.svg"/><Relationship Id="rId9" Type="http://schemas.openxmlformats.org/officeDocument/2006/relationships/slideLayout" Target="../slideLayouts/slideLayout35.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719388"/>
            <a:ext cx="5533073"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Welcome to LibreChat</a:t>
            </a:r>
            <a:endParaRPr lang="en-US" sz="4250" dirty="0"/>
          </a:p>
        </p:txBody>
      </p:sp>
      <p:sp>
        <p:nvSpPr>
          <p:cNvPr id="4" name="Text 1"/>
          <p:cNvSpPr/>
          <p:nvPr/>
        </p:nvSpPr>
        <p:spPr>
          <a:xfrm>
            <a:off x="793790" y="3699272"/>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LibreChat is a free, open source AI chat platform you can use for everyday questions, work, and learning. It looks and feels similar to popular AI chat tools, but gives you more control and flexibility.</a:t>
            </a:r>
            <a:endParaRPr lang="en-US" sz="1550" dirty="0"/>
          </a:p>
        </p:txBody>
      </p:sp>
      <p:sp>
        <p:nvSpPr>
          <p:cNvPr id="5" name="Text 2"/>
          <p:cNvSpPr/>
          <p:nvPr/>
        </p:nvSpPr>
        <p:spPr>
          <a:xfrm>
            <a:off x="793790" y="4875133"/>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In this presentation, you will learn what LibreChat is, how it works, and how to use its main features. No technical background is required.</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56648"/>
            <a:ext cx="5457944"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What You Will Learn</a:t>
            </a:r>
            <a:endParaRPr lang="en-US" sz="4250" dirty="0"/>
          </a:p>
        </p:txBody>
      </p:sp>
      <p:sp>
        <p:nvSpPr>
          <p:cNvPr id="3" name="Text 1"/>
          <p:cNvSpPr/>
          <p:nvPr/>
        </p:nvSpPr>
        <p:spPr>
          <a:xfrm>
            <a:off x="793790" y="2835712"/>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Petrona Light" pitchFamily="34" charset="0"/>
                <a:ea typeface="Petrona Light" pitchFamily="34" charset="-122"/>
                <a:cs typeface="Petrona Light" pitchFamily="34" charset="-120"/>
              </a:rPr>
              <a:t>01</a:t>
            </a:r>
            <a:endParaRPr lang="en-US" sz="1550" dirty="0"/>
          </a:p>
        </p:txBody>
      </p:sp>
      <p:sp>
        <p:nvSpPr>
          <p:cNvPr id="4" name="Shape 2"/>
          <p:cNvSpPr/>
          <p:nvPr/>
        </p:nvSpPr>
        <p:spPr>
          <a:xfrm>
            <a:off x="793790" y="3150037"/>
            <a:ext cx="6422231" cy="22860"/>
          </a:xfrm>
          <a:prstGeom prst="rect">
            <a:avLst/>
          </a:prstGeom>
          <a:solidFill>
            <a:srgbClr val="6237C8"/>
          </a:solidFill>
          <a:ln/>
        </p:spPr>
      </p:sp>
      <p:sp>
        <p:nvSpPr>
          <p:cNvPr id="5" name="Text 3"/>
          <p:cNvSpPr/>
          <p:nvPr/>
        </p:nvSpPr>
        <p:spPr>
          <a:xfrm>
            <a:off x="793790" y="3294936"/>
            <a:ext cx="4988838"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What LibreChat is and why people use it</a:t>
            </a:r>
            <a:endParaRPr lang="en-US" sz="2100" dirty="0"/>
          </a:p>
        </p:txBody>
      </p:sp>
      <p:sp>
        <p:nvSpPr>
          <p:cNvPr id="6" name="Text 4"/>
          <p:cNvSpPr/>
          <p:nvPr/>
        </p:nvSpPr>
        <p:spPr>
          <a:xfrm>
            <a:off x="7414379" y="2835712"/>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Petrona Light" pitchFamily="34" charset="0"/>
                <a:ea typeface="Petrona Light" pitchFamily="34" charset="-122"/>
                <a:cs typeface="Petrona Light" pitchFamily="34" charset="-120"/>
              </a:rPr>
              <a:t>02</a:t>
            </a:r>
            <a:endParaRPr lang="en-US" sz="1550" dirty="0"/>
          </a:p>
        </p:txBody>
      </p:sp>
      <p:sp>
        <p:nvSpPr>
          <p:cNvPr id="7" name="Shape 5"/>
          <p:cNvSpPr/>
          <p:nvPr/>
        </p:nvSpPr>
        <p:spPr>
          <a:xfrm>
            <a:off x="7414379" y="3150037"/>
            <a:ext cx="6422231" cy="22860"/>
          </a:xfrm>
          <a:prstGeom prst="rect">
            <a:avLst/>
          </a:prstGeom>
          <a:solidFill>
            <a:srgbClr val="6237C8"/>
          </a:solidFill>
          <a:ln/>
        </p:spPr>
      </p:sp>
      <p:sp>
        <p:nvSpPr>
          <p:cNvPr id="8" name="Text 6"/>
          <p:cNvSpPr/>
          <p:nvPr/>
        </p:nvSpPr>
        <p:spPr>
          <a:xfrm>
            <a:off x="7414379" y="3294936"/>
            <a:ext cx="6422231"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How to start a chat, send messages, and get useful answers</a:t>
            </a:r>
            <a:endParaRPr lang="en-US" sz="2100" dirty="0"/>
          </a:p>
        </p:txBody>
      </p:sp>
      <p:sp>
        <p:nvSpPr>
          <p:cNvPr id="9" name="Text 7"/>
          <p:cNvSpPr/>
          <p:nvPr/>
        </p:nvSpPr>
        <p:spPr>
          <a:xfrm>
            <a:off x="793790" y="4324350"/>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Petrona Light" pitchFamily="34" charset="0"/>
                <a:ea typeface="Petrona Light" pitchFamily="34" charset="-122"/>
                <a:cs typeface="Petrona Light" pitchFamily="34" charset="-120"/>
              </a:rPr>
              <a:t>03</a:t>
            </a:r>
            <a:endParaRPr lang="en-US" sz="1550" dirty="0"/>
          </a:p>
        </p:txBody>
      </p:sp>
      <p:sp>
        <p:nvSpPr>
          <p:cNvPr id="10" name="Shape 8"/>
          <p:cNvSpPr/>
          <p:nvPr/>
        </p:nvSpPr>
        <p:spPr>
          <a:xfrm>
            <a:off x="793790" y="4638675"/>
            <a:ext cx="6422231" cy="22860"/>
          </a:xfrm>
          <a:prstGeom prst="rect">
            <a:avLst/>
          </a:prstGeom>
          <a:solidFill>
            <a:srgbClr val="6237C8"/>
          </a:solidFill>
          <a:ln/>
        </p:spPr>
      </p:sp>
      <p:sp>
        <p:nvSpPr>
          <p:cNvPr id="11" name="Text 9"/>
          <p:cNvSpPr/>
          <p:nvPr/>
        </p:nvSpPr>
        <p:spPr>
          <a:xfrm>
            <a:off x="793790" y="4783574"/>
            <a:ext cx="6422231"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How to use models, prompts, files, and presets in everyday scenarios</a:t>
            </a:r>
            <a:endParaRPr lang="en-US" sz="2100" dirty="0"/>
          </a:p>
        </p:txBody>
      </p:sp>
      <p:sp>
        <p:nvSpPr>
          <p:cNvPr id="12" name="Text 10"/>
          <p:cNvSpPr/>
          <p:nvPr/>
        </p:nvSpPr>
        <p:spPr>
          <a:xfrm>
            <a:off x="7414379" y="4324350"/>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Petrona Light" pitchFamily="34" charset="0"/>
                <a:ea typeface="Petrona Light" pitchFamily="34" charset="-122"/>
                <a:cs typeface="Petrona Light" pitchFamily="34" charset="-120"/>
              </a:rPr>
              <a:t>04</a:t>
            </a:r>
            <a:endParaRPr lang="en-US" sz="1550" dirty="0"/>
          </a:p>
        </p:txBody>
      </p:sp>
      <p:sp>
        <p:nvSpPr>
          <p:cNvPr id="13" name="Shape 11"/>
          <p:cNvSpPr/>
          <p:nvPr/>
        </p:nvSpPr>
        <p:spPr>
          <a:xfrm>
            <a:off x="7414379" y="4638675"/>
            <a:ext cx="6422231" cy="22860"/>
          </a:xfrm>
          <a:prstGeom prst="rect">
            <a:avLst/>
          </a:prstGeom>
          <a:solidFill>
            <a:srgbClr val="6237C8"/>
          </a:solidFill>
          <a:ln/>
        </p:spPr>
      </p:sp>
      <p:sp>
        <p:nvSpPr>
          <p:cNvPr id="14" name="Text 12"/>
          <p:cNvSpPr/>
          <p:nvPr/>
        </p:nvSpPr>
        <p:spPr>
          <a:xfrm>
            <a:off x="7414379" y="4783574"/>
            <a:ext cx="49768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Basic settings, tips, and troubleshooting</a:t>
            </a:r>
            <a:endParaRPr lang="en-US" sz="2100" dirty="0"/>
          </a:p>
        </p:txBody>
      </p:sp>
      <p:sp>
        <p:nvSpPr>
          <p:cNvPr id="15" name="Text 13"/>
          <p:cNvSpPr/>
          <p:nvPr/>
        </p:nvSpPr>
        <p:spPr>
          <a:xfrm>
            <a:off x="793790" y="583787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Walk through the session roadmap so beginners know there is a clear structure. Reassure them that you will go step by step and that they do not need any programming skills.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3105864"/>
            <a:ext cx="6685478"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LibreChat in One Sentence</a:t>
            </a:r>
            <a:endParaRPr lang="en-US" sz="4250" dirty="0"/>
          </a:p>
        </p:txBody>
      </p:sp>
      <p:sp>
        <p:nvSpPr>
          <p:cNvPr id="4" name="Text 1"/>
          <p:cNvSpPr/>
          <p:nvPr/>
        </p:nvSpPr>
        <p:spPr>
          <a:xfrm>
            <a:off x="793790" y="4085749"/>
            <a:ext cx="13042821" cy="2824282"/>
          </a:xfrm>
          <a:prstGeom prst="rect">
            <a:avLst/>
          </a:prstGeom>
          <a:noFill/>
          <a:ln/>
        </p:spPr>
        <p:txBody>
          <a:bodyPr wrap="square" lIns="0" tIns="0" rIns="0" bIns="0" rtlCol="0" anchor="t"/>
          <a:lstStyle/>
          <a:p>
            <a:pPr algn="l" indent="0" marL="0">
              <a:lnSpc>
                <a:spcPts val="7400"/>
              </a:lnSpc>
              <a:buNone/>
            </a:pPr>
            <a:r>
              <a:rPr lang="en-US" sz="5900" b="1" dirty="0">
                <a:solidFill>
                  <a:srgbClr val="28282F"/>
                </a:solidFill>
                <a:latin typeface="Petrona Bold" pitchFamily="34" charset="0"/>
                <a:ea typeface="Petrona Bold" pitchFamily="34" charset="-122"/>
                <a:cs typeface="Petrona Bold" pitchFamily="34" charset="-120"/>
              </a:rPr>
              <a:t>LibreChat is an open source website style app where you can chat with different AI models in one place.</a:t>
            </a:r>
            <a:endParaRPr lang="en-US" sz="5900" dirty="0"/>
          </a:p>
        </p:txBody>
      </p:sp>
      <p:sp>
        <p:nvSpPr>
          <p:cNvPr id="5" name="Text 2"/>
          <p:cNvSpPr/>
          <p:nvPr/>
        </p:nvSpPr>
        <p:spPr>
          <a:xfrm>
            <a:off x="793790" y="7207687"/>
            <a:ext cx="13042821" cy="396954"/>
          </a:xfrm>
          <a:prstGeom prst="rect">
            <a:avLst/>
          </a:prstGeom>
          <a:noFill/>
          <a:ln/>
        </p:spPr>
        <p:txBody>
          <a:bodyPr wrap="none" lIns="0" tIns="0" rIns="0" bIns="0" rtlCol="0" anchor="t"/>
          <a:lstStyle/>
          <a:p>
            <a:pPr algn="l" indent="0" marL="0">
              <a:lnSpc>
                <a:spcPts val="3100"/>
              </a:lnSpc>
              <a:buNone/>
            </a:pPr>
            <a:r>
              <a:rPr lang="en-US" sz="1950" dirty="0">
                <a:solidFill>
                  <a:srgbClr val="272525"/>
                </a:solidFill>
                <a:latin typeface="Inter" pitchFamily="34" charset="0"/>
                <a:ea typeface="Inter" pitchFamily="34" charset="-122"/>
                <a:cs typeface="Inter" pitchFamily="34" charset="-120"/>
              </a:rPr>
              <a:t>It helps you write, learn, summarize, brainstorm, and analyze information, all inside a familiar chat interface.</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005727"/>
            <a:ext cx="11260336"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Why LibreChat Instead of a Single AI Website</a:t>
            </a:r>
            <a:endParaRPr lang="en-US" sz="4250" dirty="0"/>
          </a:p>
        </p:txBody>
      </p:sp>
      <p:sp>
        <p:nvSpPr>
          <p:cNvPr id="3" name="Text 1"/>
          <p:cNvSpPr/>
          <p:nvPr/>
        </p:nvSpPr>
        <p:spPr>
          <a:xfrm>
            <a:off x="793790" y="3183969"/>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Multiple AI Sites</a:t>
            </a:r>
            <a:endParaRPr lang="en-US" sz="2100" dirty="0"/>
          </a:p>
        </p:txBody>
      </p:sp>
      <p:sp>
        <p:nvSpPr>
          <p:cNvPr id="4" name="Text 2"/>
          <p:cNvSpPr/>
          <p:nvPr/>
        </p:nvSpPr>
        <p:spPr>
          <a:xfrm>
            <a:off x="793790" y="3723442"/>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Jump between different websites</a:t>
            </a:r>
            <a:endParaRPr lang="en-US" sz="1550" dirty="0"/>
          </a:p>
        </p:txBody>
      </p:sp>
      <p:sp>
        <p:nvSpPr>
          <p:cNvPr id="5" name="Text 3"/>
          <p:cNvSpPr/>
          <p:nvPr/>
        </p:nvSpPr>
        <p:spPr>
          <a:xfrm>
            <a:off x="793790" y="4110395"/>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Multiple logins and tabs</a:t>
            </a:r>
            <a:endParaRPr lang="en-US" sz="1550" dirty="0"/>
          </a:p>
        </p:txBody>
      </p:sp>
      <p:sp>
        <p:nvSpPr>
          <p:cNvPr id="6" name="Text 4"/>
          <p:cNvSpPr/>
          <p:nvPr/>
        </p:nvSpPr>
        <p:spPr>
          <a:xfrm>
            <a:off x="793790" y="4497348"/>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Scattered conversation history</a:t>
            </a:r>
            <a:endParaRPr lang="en-US" sz="1550" dirty="0"/>
          </a:p>
        </p:txBody>
      </p:sp>
      <p:sp>
        <p:nvSpPr>
          <p:cNvPr id="7" name="Text 5"/>
          <p:cNvSpPr/>
          <p:nvPr/>
        </p:nvSpPr>
        <p:spPr>
          <a:xfrm>
            <a:off x="793790" y="4884301"/>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Inconsistent interfaces</a:t>
            </a:r>
            <a:endParaRPr lang="en-US" sz="1550" dirty="0"/>
          </a:p>
        </p:txBody>
      </p:sp>
      <p:sp>
        <p:nvSpPr>
          <p:cNvPr id="8" name="Text 6"/>
          <p:cNvSpPr/>
          <p:nvPr/>
        </p:nvSpPr>
        <p:spPr>
          <a:xfrm>
            <a:off x="7564874" y="3183969"/>
            <a:ext cx="3731895"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LibreChat as One Central Hub</a:t>
            </a:r>
            <a:endParaRPr lang="en-US" sz="2100" dirty="0"/>
          </a:p>
        </p:txBody>
      </p:sp>
      <p:sp>
        <p:nvSpPr>
          <p:cNvPr id="9" name="Text 7"/>
          <p:cNvSpPr/>
          <p:nvPr/>
        </p:nvSpPr>
        <p:spPr>
          <a:xfrm>
            <a:off x="7564874" y="3723442"/>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Use many AI providers in one interface instead of jumping between different websites</a:t>
            </a:r>
            <a:endParaRPr lang="en-US" sz="1550" dirty="0"/>
          </a:p>
        </p:txBody>
      </p:sp>
      <p:sp>
        <p:nvSpPr>
          <p:cNvPr id="10" name="Text 8"/>
          <p:cNvSpPr/>
          <p:nvPr/>
        </p:nvSpPr>
        <p:spPr>
          <a:xfrm>
            <a:off x="7564874" y="4427934"/>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Keep more control over your data and how you connect to models (for example using your own keys or a company setup)</a:t>
            </a:r>
            <a:endParaRPr lang="en-US" sz="1550" dirty="0"/>
          </a:p>
        </p:txBody>
      </p:sp>
      <p:sp>
        <p:nvSpPr>
          <p:cNvPr id="11" name="Text 9"/>
          <p:cNvSpPr/>
          <p:nvPr/>
        </p:nvSpPr>
        <p:spPr>
          <a:xfrm>
            <a:off x="7564874" y="513242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Customize the experience for your personal or team workflows</a:t>
            </a:r>
            <a:endParaRPr lang="en-US" sz="1550" dirty="0"/>
          </a:p>
        </p:txBody>
      </p:sp>
      <p:sp>
        <p:nvSpPr>
          <p:cNvPr id="12" name="Text 10"/>
          <p:cNvSpPr/>
          <p:nvPr/>
        </p:nvSpPr>
        <p:spPr>
          <a:xfrm>
            <a:off x="7564874" y="5519380"/>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Save time by reusing presets, shared prompts, and conversation history</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218492"/>
            <a:ext cx="7146012"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Ways You Can Use LibreChat</a:t>
            </a:r>
            <a:endParaRPr lang="en-US" sz="4250" dirty="0"/>
          </a:p>
        </p:txBody>
      </p:sp>
      <p:sp>
        <p:nvSpPr>
          <p:cNvPr id="3" name="Shape 1"/>
          <p:cNvSpPr/>
          <p:nvPr/>
        </p:nvSpPr>
        <p:spPr>
          <a:xfrm>
            <a:off x="793790" y="3297555"/>
            <a:ext cx="4215289" cy="1855232"/>
          </a:xfrm>
          <a:prstGeom prst="roundRect">
            <a:avLst>
              <a:gd name="adj" fmla="val 4493"/>
            </a:avLst>
          </a:prstGeom>
          <a:solidFill>
            <a:srgbClr val="FDFAF7"/>
          </a:solidFill>
          <a:ln w="22860">
            <a:solidFill>
              <a:srgbClr val="C6BDDA"/>
            </a:solidFill>
            <a:prstDash val="solid"/>
          </a:ln>
        </p:spPr>
      </p:sp>
      <p:sp>
        <p:nvSpPr>
          <p:cNvPr id="4" name="Text 2"/>
          <p:cNvSpPr/>
          <p:nvPr/>
        </p:nvSpPr>
        <p:spPr>
          <a:xfrm>
            <a:off x="1015008" y="3518773"/>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Company</a:t>
            </a:r>
            <a:endParaRPr lang="en-US" sz="2100" dirty="0"/>
          </a:p>
        </p:txBody>
      </p:sp>
      <p:sp>
        <p:nvSpPr>
          <p:cNvPr id="5" name="Text 3"/>
          <p:cNvSpPr/>
          <p:nvPr/>
        </p:nvSpPr>
        <p:spPr>
          <a:xfrm>
            <a:off x="1015008" y="3978950"/>
            <a:ext cx="3772853"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Use a hosted LibreChat instance from your company, school, or provider.</a:t>
            </a:r>
            <a:endParaRPr lang="en-US" sz="1550" dirty="0"/>
          </a:p>
        </p:txBody>
      </p:sp>
      <p:sp>
        <p:nvSpPr>
          <p:cNvPr id="6" name="Shape 4"/>
          <p:cNvSpPr/>
          <p:nvPr/>
        </p:nvSpPr>
        <p:spPr>
          <a:xfrm>
            <a:off x="5207437" y="3297555"/>
            <a:ext cx="4215408" cy="1855232"/>
          </a:xfrm>
          <a:prstGeom prst="roundRect">
            <a:avLst>
              <a:gd name="adj" fmla="val 4493"/>
            </a:avLst>
          </a:prstGeom>
          <a:solidFill>
            <a:srgbClr val="FDFAF7"/>
          </a:solidFill>
          <a:ln w="22860">
            <a:solidFill>
              <a:srgbClr val="C6BDDA"/>
            </a:solidFill>
            <a:prstDash val="solid"/>
          </a:ln>
        </p:spPr>
      </p:sp>
      <p:sp>
        <p:nvSpPr>
          <p:cNvPr id="7" name="Text 5"/>
          <p:cNvSpPr/>
          <p:nvPr/>
        </p:nvSpPr>
        <p:spPr>
          <a:xfrm>
            <a:off x="5428655" y="3518773"/>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Public demo</a:t>
            </a:r>
            <a:endParaRPr lang="en-US" sz="2100" dirty="0"/>
          </a:p>
        </p:txBody>
      </p:sp>
      <p:sp>
        <p:nvSpPr>
          <p:cNvPr id="8" name="Text 6"/>
          <p:cNvSpPr/>
          <p:nvPr/>
        </p:nvSpPr>
        <p:spPr>
          <a:xfrm>
            <a:off x="5428655" y="3978950"/>
            <a:ext cx="3772972"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Try public demos if available, to explore the interface safely.</a:t>
            </a:r>
            <a:endParaRPr lang="en-US" sz="1550" dirty="0"/>
          </a:p>
        </p:txBody>
      </p:sp>
      <p:sp>
        <p:nvSpPr>
          <p:cNvPr id="9" name="Shape 7"/>
          <p:cNvSpPr/>
          <p:nvPr/>
        </p:nvSpPr>
        <p:spPr>
          <a:xfrm>
            <a:off x="9621203" y="3297555"/>
            <a:ext cx="4215289" cy="1855232"/>
          </a:xfrm>
          <a:prstGeom prst="roundRect">
            <a:avLst>
              <a:gd name="adj" fmla="val 4493"/>
            </a:avLst>
          </a:prstGeom>
          <a:solidFill>
            <a:srgbClr val="FDFAF7"/>
          </a:solidFill>
          <a:ln w="22860">
            <a:solidFill>
              <a:srgbClr val="C6BDDA"/>
            </a:solidFill>
            <a:prstDash val="solid"/>
          </a:ln>
        </p:spPr>
      </p:sp>
      <p:sp>
        <p:nvSpPr>
          <p:cNvPr id="10" name="Text 8"/>
          <p:cNvSpPr/>
          <p:nvPr/>
        </p:nvSpPr>
        <p:spPr>
          <a:xfrm>
            <a:off x="9842421" y="3518773"/>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Private setup</a:t>
            </a:r>
            <a:endParaRPr lang="en-US" sz="2100" dirty="0"/>
          </a:p>
        </p:txBody>
      </p:sp>
      <p:sp>
        <p:nvSpPr>
          <p:cNvPr id="11" name="Text 9"/>
          <p:cNvSpPr/>
          <p:nvPr/>
        </p:nvSpPr>
        <p:spPr>
          <a:xfrm>
            <a:off x="9842421" y="3978950"/>
            <a:ext cx="3772853"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Ask your IT or tech friend to set it up locally or on a server if you want your own private instance.</a:t>
            </a:r>
            <a:endParaRPr lang="en-US" sz="1550" dirty="0"/>
          </a:p>
        </p:txBody>
      </p:sp>
      <p:sp>
        <p:nvSpPr>
          <p:cNvPr id="12" name="Text 10"/>
          <p:cNvSpPr/>
          <p:nvPr/>
        </p:nvSpPr>
        <p:spPr>
          <a:xfrm>
            <a:off x="793790" y="537602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Clarify that many beginners will not install LibreChat themselves. Often an organization or more technical person will handle installation. The important point is that once it is running, the user experience in the browser is straightforward.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197179"/>
            <a:ext cx="5457944"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Basic Requirements</a:t>
            </a:r>
            <a:endParaRPr lang="en-US" sz="4250" dirty="0"/>
          </a:p>
        </p:txBody>
      </p:sp>
      <p:sp>
        <p:nvSpPr>
          <p:cNvPr id="3" name="Shape 1"/>
          <p:cNvSpPr/>
          <p:nvPr/>
        </p:nvSpPr>
        <p:spPr>
          <a:xfrm>
            <a:off x="793790" y="3276243"/>
            <a:ext cx="446484" cy="446484"/>
          </a:xfrm>
          <a:prstGeom prst="roundRect">
            <a:avLst>
              <a:gd name="adj" fmla="val 18670"/>
            </a:avLst>
          </a:prstGeom>
          <a:solidFill>
            <a:srgbClr val="E0D7F4"/>
          </a:solidFill>
          <a:ln w="7620">
            <a:solidFill>
              <a:srgbClr val="C6BDDA"/>
            </a:solidFill>
            <a:prstDash val="solid"/>
          </a:ln>
        </p:spPr>
      </p:sp>
      <p:sp>
        <p:nvSpPr>
          <p:cNvPr id="4" name="Text 2"/>
          <p:cNvSpPr/>
          <p:nvPr/>
        </p:nvSpPr>
        <p:spPr>
          <a:xfrm>
            <a:off x="1438632" y="3344466"/>
            <a:ext cx="575250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A modern web browser (Chrome, Edge, Firefox, Safari, or similar)</a:t>
            </a:r>
            <a:endParaRPr lang="en-US" sz="2100" dirty="0"/>
          </a:p>
        </p:txBody>
      </p:sp>
      <p:sp>
        <p:nvSpPr>
          <p:cNvPr id="5" name="Shape 3"/>
          <p:cNvSpPr/>
          <p:nvPr/>
        </p:nvSpPr>
        <p:spPr>
          <a:xfrm>
            <a:off x="7439144" y="3276243"/>
            <a:ext cx="446484" cy="446484"/>
          </a:xfrm>
          <a:prstGeom prst="roundRect">
            <a:avLst>
              <a:gd name="adj" fmla="val 18670"/>
            </a:avLst>
          </a:prstGeom>
          <a:solidFill>
            <a:srgbClr val="E0D7F4"/>
          </a:solidFill>
          <a:ln w="7620">
            <a:solidFill>
              <a:srgbClr val="C6BDDA"/>
            </a:solidFill>
            <a:prstDash val="solid"/>
          </a:ln>
        </p:spPr>
      </p:sp>
      <p:sp>
        <p:nvSpPr>
          <p:cNvPr id="6" name="Text 4"/>
          <p:cNvSpPr/>
          <p:nvPr/>
        </p:nvSpPr>
        <p:spPr>
          <a:xfrm>
            <a:off x="8083987" y="3344466"/>
            <a:ext cx="575262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A link (URL) to a LibreChat instance provided by your organization or host</a:t>
            </a:r>
            <a:endParaRPr lang="en-US" sz="2100" dirty="0"/>
          </a:p>
        </p:txBody>
      </p:sp>
      <p:sp>
        <p:nvSpPr>
          <p:cNvPr id="7" name="Shape 5"/>
          <p:cNvSpPr/>
          <p:nvPr/>
        </p:nvSpPr>
        <p:spPr>
          <a:xfrm>
            <a:off x="793790" y="4423529"/>
            <a:ext cx="446484" cy="446484"/>
          </a:xfrm>
          <a:prstGeom prst="roundRect">
            <a:avLst>
              <a:gd name="adj" fmla="val 18670"/>
            </a:avLst>
          </a:prstGeom>
          <a:solidFill>
            <a:srgbClr val="E0D7F4"/>
          </a:solidFill>
          <a:ln w="7620">
            <a:solidFill>
              <a:srgbClr val="C6BDDA"/>
            </a:solidFill>
            <a:prstDash val="solid"/>
          </a:ln>
        </p:spPr>
      </p:sp>
      <p:sp>
        <p:nvSpPr>
          <p:cNvPr id="8" name="Text 6"/>
          <p:cNvSpPr/>
          <p:nvPr/>
        </p:nvSpPr>
        <p:spPr>
          <a:xfrm>
            <a:off x="1438632" y="4491752"/>
            <a:ext cx="575250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Sometimes an account login, depending on how the system is configured</a:t>
            </a:r>
            <a:endParaRPr lang="en-US" sz="2100" dirty="0"/>
          </a:p>
        </p:txBody>
      </p:sp>
      <p:sp>
        <p:nvSpPr>
          <p:cNvPr id="9" name="Shape 7"/>
          <p:cNvSpPr/>
          <p:nvPr/>
        </p:nvSpPr>
        <p:spPr>
          <a:xfrm>
            <a:off x="7439144" y="4423529"/>
            <a:ext cx="446484" cy="446484"/>
          </a:xfrm>
          <a:prstGeom prst="roundRect">
            <a:avLst>
              <a:gd name="adj" fmla="val 18670"/>
            </a:avLst>
          </a:prstGeom>
          <a:solidFill>
            <a:srgbClr val="E0D7F4"/>
          </a:solidFill>
          <a:ln w="7620">
            <a:solidFill>
              <a:srgbClr val="C6BDDA"/>
            </a:solidFill>
            <a:prstDash val="solid"/>
          </a:ln>
        </p:spPr>
      </p:sp>
      <p:sp>
        <p:nvSpPr>
          <p:cNvPr id="10" name="Text 8"/>
          <p:cNvSpPr/>
          <p:nvPr/>
        </p:nvSpPr>
        <p:spPr>
          <a:xfrm>
            <a:off x="8083987" y="4491752"/>
            <a:ext cx="575262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In some setups, a private key or token for an AI provider is needed, usually prepared by IT</a:t>
            </a:r>
            <a:endParaRPr lang="en-US" sz="2100" dirty="0"/>
          </a:p>
        </p:txBody>
      </p:sp>
      <p:sp>
        <p:nvSpPr>
          <p:cNvPr id="11" name="Text 9"/>
          <p:cNvSpPr/>
          <p:nvPr/>
        </p:nvSpPr>
        <p:spPr>
          <a:xfrm>
            <a:off x="793790" y="539722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Keep this simple. Explain that most beginners will just receive a link and possibly a username and password. Mention that "keys" or "tokens" are secret codes that connect LibreChat to AI services, but that these are often handled by admins.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02757"/>
            <a:ext cx="6771680"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First Time Login and Setup</a:t>
            </a:r>
            <a:endParaRPr lang="en-US" sz="4250" dirty="0"/>
          </a:p>
        </p:txBody>
      </p:sp>
      <p:pic>
        <p:nvPicPr>
          <p:cNvPr id="3" name="Image 0" descr="preencoded.png">    </p:cNvPr>
          <p:cNvPicPr>
            <a:picLocks noChangeAspect="1"/>
          </p:cNvPicPr>
          <p:nvPr/>
        </p:nvPicPr>
        <p:blipFill>
          <a:blip r:embed="rId1"/>
          <a:stretch>
            <a:fillRect/>
          </a:stretch>
        </p:blipFill>
        <p:spPr>
          <a:xfrm>
            <a:off x="793790" y="2181820"/>
            <a:ext cx="6521410" cy="793790"/>
          </a:xfrm>
          <a:prstGeom prst="rect">
            <a:avLst/>
          </a:prstGeom>
        </p:spPr>
      </p:pic>
      <p:sp>
        <p:nvSpPr>
          <p:cNvPr id="4" name="Text 1"/>
          <p:cNvSpPr/>
          <p:nvPr/>
        </p:nvSpPr>
        <p:spPr>
          <a:xfrm>
            <a:off x="992148" y="3173968"/>
            <a:ext cx="5055394"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Open the LibreChat URL in your browser</a:t>
            </a:r>
            <a:endParaRPr lang="en-US" sz="2100" dirty="0"/>
          </a:p>
        </p:txBody>
      </p:sp>
      <p:pic>
        <p:nvPicPr>
          <p:cNvPr id="5" name="Image 1" descr="preencoded.png">    </p:cNvPr>
          <p:cNvPicPr>
            <a:picLocks noChangeAspect="1"/>
          </p:cNvPicPr>
          <p:nvPr/>
        </p:nvPicPr>
        <p:blipFill>
          <a:blip r:embed="rId2"/>
          <a:stretch>
            <a:fillRect/>
          </a:stretch>
        </p:blipFill>
        <p:spPr>
          <a:xfrm>
            <a:off x="7315200" y="2181820"/>
            <a:ext cx="6521410" cy="793790"/>
          </a:xfrm>
          <a:prstGeom prst="rect">
            <a:avLst/>
          </a:prstGeom>
        </p:spPr>
      </p:pic>
      <p:sp>
        <p:nvSpPr>
          <p:cNvPr id="6" name="Text 2"/>
          <p:cNvSpPr/>
          <p:nvPr/>
        </p:nvSpPr>
        <p:spPr>
          <a:xfrm>
            <a:off x="7513558" y="3173968"/>
            <a:ext cx="612469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Sign in if you see a login page, using the credentials you received</a:t>
            </a:r>
            <a:endParaRPr lang="en-US" sz="2100" dirty="0"/>
          </a:p>
        </p:txBody>
      </p:sp>
      <p:pic>
        <p:nvPicPr>
          <p:cNvPr id="7" name="Image 2" descr="preencoded.png">    </p:cNvPr>
          <p:cNvPicPr>
            <a:picLocks noChangeAspect="1"/>
          </p:cNvPicPr>
          <p:nvPr/>
        </p:nvPicPr>
        <p:blipFill>
          <a:blip r:embed="rId3"/>
          <a:stretch>
            <a:fillRect/>
          </a:stretch>
        </p:blipFill>
        <p:spPr>
          <a:xfrm>
            <a:off x="793790" y="4054554"/>
            <a:ext cx="6521410" cy="793790"/>
          </a:xfrm>
          <a:prstGeom prst="rect">
            <a:avLst/>
          </a:prstGeom>
        </p:spPr>
      </p:pic>
      <p:sp>
        <p:nvSpPr>
          <p:cNvPr id="8" name="Text 3"/>
          <p:cNvSpPr/>
          <p:nvPr/>
        </p:nvSpPr>
        <p:spPr>
          <a:xfrm>
            <a:off x="992148" y="5046702"/>
            <a:ext cx="612469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After login, you will usually land on the main chat screen</a:t>
            </a:r>
            <a:endParaRPr lang="en-US" sz="2100" dirty="0"/>
          </a:p>
        </p:txBody>
      </p:sp>
      <p:pic>
        <p:nvPicPr>
          <p:cNvPr id="9" name="Image 3" descr="preencoded.png">    </p:cNvPr>
          <p:cNvPicPr>
            <a:picLocks noChangeAspect="1"/>
          </p:cNvPicPr>
          <p:nvPr/>
        </p:nvPicPr>
        <p:blipFill>
          <a:blip r:embed="rId4"/>
          <a:stretch>
            <a:fillRect/>
          </a:stretch>
        </p:blipFill>
        <p:spPr>
          <a:xfrm>
            <a:off x="7315200" y="4054554"/>
            <a:ext cx="6521410" cy="793790"/>
          </a:xfrm>
          <a:prstGeom prst="rect">
            <a:avLst/>
          </a:prstGeom>
        </p:spPr>
      </p:pic>
      <p:sp>
        <p:nvSpPr>
          <p:cNvPr id="10" name="Text 4"/>
          <p:cNvSpPr/>
          <p:nvPr/>
        </p:nvSpPr>
        <p:spPr>
          <a:xfrm>
            <a:off x="7513558" y="5046702"/>
            <a:ext cx="6124694" cy="1023342"/>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If prompted to choose a default model, pick a friendly option suggested by your admin or the interface</a:t>
            </a:r>
            <a:endParaRPr lang="en-US" sz="2100" dirty="0"/>
          </a:p>
        </p:txBody>
      </p:sp>
      <p:sp>
        <p:nvSpPr>
          <p:cNvPr id="11" name="Text 5"/>
          <p:cNvSpPr/>
          <p:nvPr/>
        </p:nvSpPr>
        <p:spPr>
          <a:xfrm>
            <a:off x="793790" y="649164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Explain that the first time can feel confusing, but most screens will have clear calls to action like "New Chat" or "Start chatting." Encourage them to click around calmly and reassure them that they can always start a fresh chat if they get lost.</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8784" y="660202"/>
            <a:ext cx="5255776" cy="643533"/>
          </a:xfrm>
          <a:prstGeom prst="rect">
            <a:avLst/>
          </a:prstGeom>
          <a:noFill/>
          <a:ln/>
        </p:spPr>
        <p:txBody>
          <a:bodyPr wrap="none" lIns="0" tIns="0" rIns="0" bIns="0" rtlCol="0" anchor="t"/>
          <a:lstStyle/>
          <a:p>
            <a:pPr algn="l" indent="0" marL="0">
              <a:lnSpc>
                <a:spcPts val="5050"/>
              </a:lnSpc>
              <a:buNone/>
            </a:pPr>
            <a:r>
              <a:rPr lang="en-US" sz="4050" b="1" dirty="0">
                <a:solidFill>
                  <a:srgbClr val="F95F88"/>
                </a:solidFill>
                <a:latin typeface="Petrona Bold" pitchFamily="34" charset="0"/>
                <a:ea typeface="Petrona Bold" pitchFamily="34" charset="-122"/>
                <a:cs typeface="Petrona Bold" pitchFamily="34" charset="-120"/>
              </a:rPr>
              <a:t>Main Screen Overview</a:t>
            </a:r>
            <a:endParaRPr lang="en-US" sz="4050" dirty="0"/>
          </a:p>
        </p:txBody>
      </p:sp>
      <p:sp>
        <p:nvSpPr>
          <p:cNvPr id="4" name="Shape 1"/>
          <p:cNvSpPr/>
          <p:nvPr/>
        </p:nvSpPr>
        <p:spPr>
          <a:xfrm>
            <a:off x="748784" y="1584484"/>
            <a:ext cx="7646432" cy="1153478"/>
          </a:xfrm>
          <a:prstGeom prst="roundRect">
            <a:avLst>
              <a:gd name="adj" fmla="val 9513"/>
            </a:avLst>
          </a:prstGeom>
          <a:solidFill>
            <a:srgbClr val="FDFAF7"/>
          </a:solidFill>
          <a:ln w="22860">
            <a:solidFill>
              <a:srgbClr val="C6BDDA"/>
            </a:solidFill>
            <a:prstDash val="solid"/>
          </a:ln>
        </p:spPr>
      </p:sp>
      <p:sp>
        <p:nvSpPr>
          <p:cNvPr id="5" name="Shape 2"/>
          <p:cNvSpPr/>
          <p:nvPr/>
        </p:nvSpPr>
        <p:spPr>
          <a:xfrm>
            <a:off x="725924" y="1584484"/>
            <a:ext cx="91440" cy="1153478"/>
          </a:xfrm>
          <a:prstGeom prst="roundRect">
            <a:avLst>
              <a:gd name="adj" fmla="val 85988"/>
            </a:avLst>
          </a:prstGeom>
          <a:solidFill>
            <a:srgbClr val="6237C8"/>
          </a:solidFill>
          <a:ln/>
        </p:spPr>
      </p:sp>
      <p:sp>
        <p:nvSpPr>
          <p:cNvPr id="6" name="Text 3"/>
          <p:cNvSpPr/>
          <p:nvPr/>
        </p:nvSpPr>
        <p:spPr>
          <a:xfrm>
            <a:off x="1027390" y="1794510"/>
            <a:ext cx="2574012" cy="321707"/>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Petrona Bold" pitchFamily="34" charset="0"/>
                <a:ea typeface="Petrona Bold" pitchFamily="34" charset="-122"/>
                <a:cs typeface="Petrona Bold" pitchFamily="34" charset="-120"/>
              </a:rPr>
              <a:t>Left side</a:t>
            </a:r>
            <a:endParaRPr lang="en-US" sz="2000" dirty="0"/>
          </a:p>
        </p:txBody>
      </p:sp>
      <p:sp>
        <p:nvSpPr>
          <p:cNvPr id="7" name="Text 4"/>
          <p:cNvSpPr/>
          <p:nvPr/>
        </p:nvSpPr>
        <p:spPr>
          <a:xfrm>
            <a:off x="1027390" y="2228493"/>
            <a:ext cx="7157799" cy="299442"/>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Usually a sidebar with chats, folders, and often model or agent shortcuts.</a:t>
            </a:r>
            <a:endParaRPr lang="en-US" sz="1450" dirty="0"/>
          </a:p>
        </p:txBody>
      </p:sp>
      <p:sp>
        <p:nvSpPr>
          <p:cNvPr id="8" name="Shape 5"/>
          <p:cNvSpPr/>
          <p:nvPr/>
        </p:nvSpPr>
        <p:spPr>
          <a:xfrm>
            <a:off x="748784" y="2925128"/>
            <a:ext cx="7646432" cy="1153478"/>
          </a:xfrm>
          <a:prstGeom prst="roundRect">
            <a:avLst>
              <a:gd name="adj" fmla="val 9513"/>
            </a:avLst>
          </a:prstGeom>
          <a:solidFill>
            <a:srgbClr val="FDFAF7"/>
          </a:solidFill>
          <a:ln w="22860">
            <a:solidFill>
              <a:srgbClr val="C6BDDA"/>
            </a:solidFill>
            <a:prstDash val="solid"/>
          </a:ln>
        </p:spPr>
      </p:sp>
      <p:sp>
        <p:nvSpPr>
          <p:cNvPr id="9" name="Shape 6"/>
          <p:cNvSpPr/>
          <p:nvPr/>
        </p:nvSpPr>
        <p:spPr>
          <a:xfrm>
            <a:off x="725924" y="2925128"/>
            <a:ext cx="91440" cy="1153478"/>
          </a:xfrm>
          <a:prstGeom prst="roundRect">
            <a:avLst>
              <a:gd name="adj" fmla="val 85988"/>
            </a:avLst>
          </a:prstGeom>
          <a:solidFill>
            <a:srgbClr val="6237C8"/>
          </a:solidFill>
          <a:ln/>
        </p:spPr>
      </p:sp>
      <p:sp>
        <p:nvSpPr>
          <p:cNvPr id="10" name="Text 7"/>
          <p:cNvSpPr/>
          <p:nvPr/>
        </p:nvSpPr>
        <p:spPr>
          <a:xfrm>
            <a:off x="1027390" y="3135154"/>
            <a:ext cx="2574012" cy="321707"/>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Petrona Bold" pitchFamily="34" charset="0"/>
                <a:ea typeface="Petrona Bold" pitchFamily="34" charset="-122"/>
                <a:cs typeface="Petrona Bold" pitchFamily="34" charset="-120"/>
              </a:rPr>
              <a:t>Center</a:t>
            </a:r>
            <a:endParaRPr lang="en-US" sz="2000" dirty="0"/>
          </a:p>
        </p:txBody>
      </p:sp>
      <p:sp>
        <p:nvSpPr>
          <p:cNvPr id="11" name="Text 8"/>
          <p:cNvSpPr/>
          <p:nvPr/>
        </p:nvSpPr>
        <p:spPr>
          <a:xfrm>
            <a:off x="1027390" y="3569137"/>
            <a:ext cx="7157799" cy="299442"/>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The main chat area where you see messages and type your questions.</a:t>
            </a:r>
            <a:endParaRPr lang="en-US" sz="1450" dirty="0"/>
          </a:p>
        </p:txBody>
      </p:sp>
      <p:sp>
        <p:nvSpPr>
          <p:cNvPr id="12" name="Shape 9"/>
          <p:cNvSpPr/>
          <p:nvPr/>
        </p:nvSpPr>
        <p:spPr>
          <a:xfrm>
            <a:off x="748784" y="4265771"/>
            <a:ext cx="7646432" cy="1153478"/>
          </a:xfrm>
          <a:prstGeom prst="roundRect">
            <a:avLst>
              <a:gd name="adj" fmla="val 9513"/>
            </a:avLst>
          </a:prstGeom>
          <a:solidFill>
            <a:srgbClr val="FDFAF7"/>
          </a:solidFill>
          <a:ln w="22860">
            <a:solidFill>
              <a:srgbClr val="C6BDDA"/>
            </a:solidFill>
            <a:prstDash val="solid"/>
          </a:ln>
        </p:spPr>
      </p:sp>
      <p:sp>
        <p:nvSpPr>
          <p:cNvPr id="13" name="Shape 10"/>
          <p:cNvSpPr/>
          <p:nvPr/>
        </p:nvSpPr>
        <p:spPr>
          <a:xfrm>
            <a:off x="725924" y="4265771"/>
            <a:ext cx="91440" cy="1153478"/>
          </a:xfrm>
          <a:prstGeom prst="roundRect">
            <a:avLst>
              <a:gd name="adj" fmla="val 85988"/>
            </a:avLst>
          </a:prstGeom>
          <a:solidFill>
            <a:srgbClr val="6237C8"/>
          </a:solidFill>
          <a:ln/>
        </p:spPr>
      </p:sp>
      <p:sp>
        <p:nvSpPr>
          <p:cNvPr id="14" name="Text 11"/>
          <p:cNvSpPr/>
          <p:nvPr/>
        </p:nvSpPr>
        <p:spPr>
          <a:xfrm>
            <a:off x="1027390" y="4475798"/>
            <a:ext cx="2574012" cy="321707"/>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Petrona Bold" pitchFamily="34" charset="0"/>
                <a:ea typeface="Petrona Bold" pitchFamily="34" charset="-122"/>
                <a:cs typeface="Petrona Bold" pitchFamily="34" charset="-120"/>
              </a:rPr>
              <a:t>Top or right</a:t>
            </a:r>
            <a:endParaRPr lang="en-US" sz="2000" dirty="0"/>
          </a:p>
        </p:txBody>
      </p:sp>
      <p:sp>
        <p:nvSpPr>
          <p:cNvPr id="15" name="Text 12"/>
          <p:cNvSpPr/>
          <p:nvPr/>
        </p:nvSpPr>
        <p:spPr>
          <a:xfrm>
            <a:off x="1027390" y="4909780"/>
            <a:ext cx="7157799" cy="299442"/>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Model selector, settings menu, and sometimes extra tools.</a:t>
            </a:r>
            <a:endParaRPr lang="en-US" sz="1450" dirty="0"/>
          </a:p>
        </p:txBody>
      </p:sp>
      <p:sp>
        <p:nvSpPr>
          <p:cNvPr id="16" name="Shape 13"/>
          <p:cNvSpPr/>
          <p:nvPr/>
        </p:nvSpPr>
        <p:spPr>
          <a:xfrm>
            <a:off x="748784" y="5606415"/>
            <a:ext cx="7646432" cy="1153478"/>
          </a:xfrm>
          <a:prstGeom prst="roundRect">
            <a:avLst>
              <a:gd name="adj" fmla="val 9513"/>
            </a:avLst>
          </a:prstGeom>
          <a:solidFill>
            <a:srgbClr val="FDFAF7"/>
          </a:solidFill>
          <a:ln w="22860">
            <a:solidFill>
              <a:srgbClr val="C6BDDA"/>
            </a:solidFill>
            <a:prstDash val="solid"/>
          </a:ln>
        </p:spPr>
      </p:sp>
      <p:sp>
        <p:nvSpPr>
          <p:cNvPr id="17" name="Shape 14"/>
          <p:cNvSpPr/>
          <p:nvPr/>
        </p:nvSpPr>
        <p:spPr>
          <a:xfrm>
            <a:off x="725924" y="5606415"/>
            <a:ext cx="91440" cy="1153478"/>
          </a:xfrm>
          <a:prstGeom prst="roundRect">
            <a:avLst>
              <a:gd name="adj" fmla="val 85988"/>
            </a:avLst>
          </a:prstGeom>
          <a:solidFill>
            <a:srgbClr val="6237C8"/>
          </a:solidFill>
          <a:ln/>
        </p:spPr>
      </p:sp>
      <p:sp>
        <p:nvSpPr>
          <p:cNvPr id="18" name="Text 15"/>
          <p:cNvSpPr/>
          <p:nvPr/>
        </p:nvSpPr>
        <p:spPr>
          <a:xfrm>
            <a:off x="1027390" y="5816441"/>
            <a:ext cx="2574012" cy="321707"/>
          </a:xfrm>
          <a:prstGeom prst="rect">
            <a:avLst/>
          </a:prstGeom>
          <a:noFill/>
          <a:ln/>
        </p:spPr>
        <p:txBody>
          <a:bodyPr wrap="none" lIns="0" tIns="0" rIns="0" bIns="0" rtlCol="0" anchor="t"/>
          <a:lstStyle/>
          <a:p>
            <a:pPr algn="l" indent="0" marL="0">
              <a:lnSpc>
                <a:spcPts val="2500"/>
              </a:lnSpc>
              <a:buNone/>
            </a:pPr>
            <a:r>
              <a:rPr lang="en-US" sz="2000" b="1" dirty="0">
                <a:solidFill>
                  <a:srgbClr val="272525"/>
                </a:solidFill>
                <a:latin typeface="Petrona Bold" pitchFamily="34" charset="0"/>
                <a:ea typeface="Petrona Bold" pitchFamily="34" charset="-122"/>
                <a:cs typeface="Petrona Bold" pitchFamily="34" charset="-120"/>
              </a:rPr>
              <a:t>Bottom</a:t>
            </a:r>
            <a:endParaRPr lang="en-US" sz="2000" dirty="0"/>
          </a:p>
        </p:txBody>
      </p:sp>
      <p:sp>
        <p:nvSpPr>
          <p:cNvPr id="19" name="Text 16"/>
          <p:cNvSpPr/>
          <p:nvPr/>
        </p:nvSpPr>
        <p:spPr>
          <a:xfrm>
            <a:off x="1027390" y="6250424"/>
            <a:ext cx="7157799" cy="299442"/>
          </a:xfrm>
          <a:prstGeom prst="rect">
            <a:avLst/>
          </a:prstGeom>
          <a:noFill/>
          <a:ln/>
        </p:spPr>
        <p:txBody>
          <a:bodyPr wrap="non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Input box to write your message and send it.</a:t>
            </a:r>
            <a:endParaRPr lang="en-US" sz="1450" dirty="0"/>
          </a:p>
        </p:txBody>
      </p:sp>
      <p:sp>
        <p:nvSpPr>
          <p:cNvPr id="20" name="Text 17"/>
          <p:cNvSpPr/>
          <p:nvPr/>
        </p:nvSpPr>
        <p:spPr>
          <a:xfrm>
            <a:off x="748784" y="6970395"/>
            <a:ext cx="7646432" cy="598884"/>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Slowly walk through each area of the screen so they can mentally map it. Encourage them to think of LibreChat as similar to a messaging app, but with AI on the other side.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35988"/>
            <a:ext cx="5457944"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The Chat Area</a:t>
            </a:r>
            <a:endParaRPr lang="en-US" sz="4250" dirty="0"/>
          </a:p>
        </p:txBody>
      </p:sp>
      <p:sp>
        <p:nvSpPr>
          <p:cNvPr id="4" name="Shape 1"/>
          <p:cNvSpPr/>
          <p:nvPr/>
        </p:nvSpPr>
        <p:spPr>
          <a:xfrm>
            <a:off x="793790" y="2321302"/>
            <a:ext cx="99179" cy="99179"/>
          </a:xfrm>
          <a:prstGeom prst="roundRect">
            <a:avLst>
              <a:gd name="adj" fmla="val 460985"/>
            </a:avLst>
          </a:prstGeom>
          <a:solidFill>
            <a:srgbClr val="6237C8"/>
          </a:solidFill>
          <a:ln/>
        </p:spPr>
      </p:sp>
      <p:sp>
        <p:nvSpPr>
          <p:cNvPr id="5" name="Text 2"/>
          <p:cNvSpPr/>
          <p:nvPr/>
        </p:nvSpPr>
        <p:spPr>
          <a:xfrm>
            <a:off x="1091327" y="2215872"/>
            <a:ext cx="7258883"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Your messages are usually aligned on one side, often with a user icon</a:t>
            </a:r>
            <a:endParaRPr lang="en-US" sz="2100" dirty="0"/>
          </a:p>
        </p:txBody>
      </p:sp>
      <p:sp>
        <p:nvSpPr>
          <p:cNvPr id="6" name="Shape 3"/>
          <p:cNvSpPr/>
          <p:nvPr/>
        </p:nvSpPr>
        <p:spPr>
          <a:xfrm>
            <a:off x="793790" y="3400365"/>
            <a:ext cx="99179" cy="99179"/>
          </a:xfrm>
          <a:prstGeom prst="roundRect">
            <a:avLst>
              <a:gd name="adj" fmla="val 460985"/>
            </a:avLst>
          </a:prstGeom>
          <a:solidFill>
            <a:srgbClr val="6237C8"/>
          </a:solidFill>
          <a:ln/>
        </p:spPr>
      </p:sp>
      <p:sp>
        <p:nvSpPr>
          <p:cNvPr id="7" name="Text 4"/>
          <p:cNvSpPr/>
          <p:nvPr/>
        </p:nvSpPr>
        <p:spPr>
          <a:xfrm>
            <a:off x="1091327" y="3294936"/>
            <a:ext cx="7258883"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AI responses appear on the opposite side, often with a robot or logo icon</a:t>
            </a:r>
            <a:endParaRPr lang="en-US" sz="2100" dirty="0"/>
          </a:p>
        </p:txBody>
      </p:sp>
      <p:sp>
        <p:nvSpPr>
          <p:cNvPr id="8" name="Shape 5"/>
          <p:cNvSpPr/>
          <p:nvPr/>
        </p:nvSpPr>
        <p:spPr>
          <a:xfrm>
            <a:off x="793790" y="4479429"/>
            <a:ext cx="99179" cy="99179"/>
          </a:xfrm>
          <a:prstGeom prst="roundRect">
            <a:avLst>
              <a:gd name="adj" fmla="val 460985"/>
            </a:avLst>
          </a:prstGeom>
          <a:solidFill>
            <a:srgbClr val="6237C8"/>
          </a:solidFill>
          <a:ln/>
        </p:spPr>
      </p:sp>
      <p:sp>
        <p:nvSpPr>
          <p:cNvPr id="9" name="Text 6"/>
          <p:cNvSpPr/>
          <p:nvPr/>
        </p:nvSpPr>
        <p:spPr>
          <a:xfrm>
            <a:off x="1091327" y="4373999"/>
            <a:ext cx="7258883"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Messages may stream in gradually so you can see the answer being generated</a:t>
            </a:r>
            <a:endParaRPr lang="en-US" sz="2100" dirty="0"/>
          </a:p>
        </p:txBody>
      </p:sp>
      <p:sp>
        <p:nvSpPr>
          <p:cNvPr id="10" name="Shape 7"/>
          <p:cNvSpPr/>
          <p:nvPr/>
        </p:nvSpPr>
        <p:spPr>
          <a:xfrm>
            <a:off x="793790" y="5558492"/>
            <a:ext cx="99179" cy="99179"/>
          </a:xfrm>
          <a:prstGeom prst="roundRect">
            <a:avLst>
              <a:gd name="adj" fmla="val 460985"/>
            </a:avLst>
          </a:prstGeom>
          <a:solidFill>
            <a:srgbClr val="6237C8"/>
          </a:solidFill>
          <a:ln/>
        </p:spPr>
      </p:sp>
      <p:sp>
        <p:nvSpPr>
          <p:cNvPr id="11" name="Text 8"/>
          <p:cNvSpPr/>
          <p:nvPr/>
        </p:nvSpPr>
        <p:spPr>
          <a:xfrm>
            <a:off x="1091327" y="5453063"/>
            <a:ext cx="7258883"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You can scroll up to review previous parts of the conversation</a:t>
            </a:r>
            <a:endParaRPr lang="en-US" sz="2100" dirty="0"/>
          </a:p>
        </p:txBody>
      </p:sp>
      <p:sp>
        <p:nvSpPr>
          <p:cNvPr id="12" name="Text 9"/>
          <p:cNvSpPr/>
          <p:nvPr/>
        </p:nvSpPr>
        <p:spPr>
          <a:xfrm>
            <a:off x="793790" y="6358533"/>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Connect to familiar experiences, such as texting apps. Point out that long answers are normal and that scrolling is part of using LibreChat effectively.</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141458"/>
            <a:ext cx="7444502"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Sidebars, History, and Folders</a:t>
            </a:r>
            <a:endParaRPr lang="en-US" sz="4250" dirty="0"/>
          </a:p>
        </p:txBody>
      </p:sp>
      <p:pic>
        <p:nvPicPr>
          <p:cNvPr id="3" name="Image 0" descr="preencoded.png">    </p:cNvPr>
          <p:cNvPicPr>
            <a:picLocks noChangeAspect="1"/>
          </p:cNvPicPr>
          <p:nvPr/>
        </p:nvPicPr>
        <p:blipFill>
          <a:blip r:embed="rId1"/>
          <a:stretch>
            <a:fillRect/>
          </a:stretch>
        </p:blipFill>
        <p:spPr>
          <a:xfrm>
            <a:off x="793790" y="3344585"/>
            <a:ext cx="2286000" cy="2286000"/>
          </a:xfrm>
          <a:prstGeom prst="rect">
            <a:avLst/>
          </a:prstGeom>
        </p:spPr>
      </p:pic>
      <p:sp>
        <p:nvSpPr>
          <p:cNvPr id="4" name="Text 1"/>
          <p:cNvSpPr/>
          <p:nvPr/>
        </p:nvSpPr>
        <p:spPr>
          <a:xfrm>
            <a:off x="6212086" y="3299936"/>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The sidebar usually lists your recent conversations by title or first question.</a:t>
            </a:r>
            <a:endParaRPr lang="en-US" sz="1550" dirty="0"/>
          </a:p>
        </p:txBody>
      </p:sp>
      <p:sp>
        <p:nvSpPr>
          <p:cNvPr id="5" name="Text 2"/>
          <p:cNvSpPr/>
          <p:nvPr/>
        </p:nvSpPr>
        <p:spPr>
          <a:xfrm>
            <a:off x="6212086" y="3686889"/>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You can click a conversation to reopen it and continue where you left off.</a:t>
            </a:r>
            <a:endParaRPr lang="en-US" sz="1550" dirty="0"/>
          </a:p>
        </p:txBody>
      </p:sp>
      <p:sp>
        <p:nvSpPr>
          <p:cNvPr id="6" name="Text 3"/>
          <p:cNvSpPr/>
          <p:nvPr/>
        </p:nvSpPr>
        <p:spPr>
          <a:xfrm>
            <a:off x="6212086" y="4073843"/>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Some instances allow you to organize chats into folders or categories.</a:t>
            </a:r>
            <a:endParaRPr lang="en-US" sz="1550" dirty="0"/>
          </a:p>
        </p:txBody>
      </p:sp>
      <p:sp>
        <p:nvSpPr>
          <p:cNvPr id="7" name="Text 4"/>
          <p:cNvSpPr/>
          <p:nvPr/>
        </p:nvSpPr>
        <p:spPr>
          <a:xfrm>
            <a:off x="6212086" y="4460796"/>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There may be a search box to quickly find old conversations.</a:t>
            </a:r>
            <a:endParaRPr lang="en-US" sz="1550" dirty="0"/>
          </a:p>
        </p:txBody>
      </p:sp>
      <p:sp>
        <p:nvSpPr>
          <p:cNvPr id="8" name="Text 5"/>
          <p:cNvSpPr/>
          <p:nvPr/>
        </p:nvSpPr>
        <p:spPr>
          <a:xfrm>
            <a:off x="6212086" y="4956929"/>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Emphasize that LibreChat saves time by letting you reuse and revisit past conversations rather than starting from scratch every time. Mention that naming chats clearly helps when you come back later.</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223843"/>
            <a:ext cx="5926455"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Starting Your First Chat</a:t>
            </a:r>
            <a:endParaRPr lang="en-US" sz="4250" dirty="0"/>
          </a:p>
        </p:txBody>
      </p:sp>
      <p:pic>
        <p:nvPicPr>
          <p:cNvPr id="3" name="Image 0" descr="preencoded.png">    </p:cNvPr>
          <p:cNvPicPr>
            <a:picLocks noChangeAspect="1"/>
          </p:cNvPicPr>
          <p:nvPr/>
        </p:nvPicPr>
        <p:blipFill>
          <a:blip r:embed="rId1"/>
          <a:stretch>
            <a:fillRect/>
          </a:stretch>
        </p:blipFill>
        <p:spPr>
          <a:xfrm>
            <a:off x="793790" y="2600563"/>
            <a:ext cx="6422231" cy="1143000"/>
          </a:xfrm>
          <a:prstGeom prst="rect">
            <a:avLst/>
          </a:prstGeom>
        </p:spPr>
      </p:pic>
      <p:sp>
        <p:nvSpPr>
          <p:cNvPr id="4" name="Text 1"/>
          <p:cNvSpPr/>
          <p:nvPr/>
        </p:nvSpPr>
        <p:spPr>
          <a:xfrm>
            <a:off x="992148" y="3394234"/>
            <a:ext cx="5864662"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Click "New Chat" or the plus icon in the sidebar</a:t>
            </a:r>
            <a:endParaRPr lang="en-US" sz="2100" dirty="0"/>
          </a:p>
        </p:txBody>
      </p:sp>
      <p:pic>
        <p:nvPicPr>
          <p:cNvPr id="5" name="Image 1" descr="preencoded.png">    </p:cNvPr>
          <p:cNvPicPr>
            <a:picLocks noChangeAspect="1"/>
          </p:cNvPicPr>
          <p:nvPr/>
        </p:nvPicPr>
        <p:blipFill>
          <a:blip r:embed="rId2"/>
          <a:stretch>
            <a:fillRect/>
          </a:stretch>
        </p:blipFill>
        <p:spPr>
          <a:xfrm>
            <a:off x="7414379" y="2302907"/>
            <a:ext cx="6422231" cy="1143000"/>
          </a:xfrm>
          <a:prstGeom prst="rect">
            <a:avLst/>
          </a:prstGeom>
        </p:spPr>
      </p:pic>
      <p:sp>
        <p:nvSpPr>
          <p:cNvPr id="6" name="Text 2"/>
          <p:cNvSpPr/>
          <p:nvPr/>
        </p:nvSpPr>
        <p:spPr>
          <a:xfrm>
            <a:off x="7612737" y="3096578"/>
            <a:ext cx="602551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Make sure a model is selected at the top (the default is usually fine)</a:t>
            </a:r>
            <a:endParaRPr lang="en-US" sz="2100" dirty="0"/>
          </a:p>
        </p:txBody>
      </p:sp>
      <p:pic>
        <p:nvPicPr>
          <p:cNvPr id="7" name="Image 2" descr="preencoded.png">    </p:cNvPr>
          <p:cNvPicPr>
            <a:picLocks noChangeAspect="1"/>
          </p:cNvPicPr>
          <p:nvPr/>
        </p:nvPicPr>
        <p:blipFill>
          <a:blip r:embed="rId3"/>
          <a:stretch>
            <a:fillRect/>
          </a:stretch>
        </p:blipFill>
        <p:spPr>
          <a:xfrm>
            <a:off x="793790" y="4473178"/>
            <a:ext cx="6422231" cy="1143000"/>
          </a:xfrm>
          <a:prstGeom prst="rect">
            <a:avLst/>
          </a:prstGeom>
        </p:spPr>
      </p:pic>
      <p:sp>
        <p:nvSpPr>
          <p:cNvPr id="8" name="Text 3"/>
          <p:cNvSpPr/>
          <p:nvPr/>
        </p:nvSpPr>
        <p:spPr>
          <a:xfrm>
            <a:off x="992148" y="5266849"/>
            <a:ext cx="602551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Type a simple question, such as "Explain photosynthesis in simple terms."</a:t>
            </a:r>
            <a:endParaRPr lang="en-US" sz="2100" dirty="0"/>
          </a:p>
        </p:txBody>
      </p:sp>
      <p:pic>
        <p:nvPicPr>
          <p:cNvPr id="9" name="Image 3" descr="preencoded.png">    </p:cNvPr>
          <p:cNvPicPr>
            <a:picLocks noChangeAspect="1"/>
          </p:cNvPicPr>
          <p:nvPr/>
        </p:nvPicPr>
        <p:blipFill>
          <a:blip r:embed="rId4"/>
          <a:stretch>
            <a:fillRect/>
          </a:stretch>
        </p:blipFill>
        <p:spPr>
          <a:xfrm>
            <a:off x="7414379" y="4175522"/>
            <a:ext cx="6422231" cy="1143000"/>
          </a:xfrm>
          <a:prstGeom prst="rect">
            <a:avLst/>
          </a:prstGeom>
        </p:spPr>
      </p:pic>
      <p:sp>
        <p:nvSpPr>
          <p:cNvPr id="10" name="Text 4"/>
          <p:cNvSpPr/>
          <p:nvPr/>
        </p:nvSpPr>
        <p:spPr>
          <a:xfrm>
            <a:off x="7612737" y="4969193"/>
            <a:ext cx="5700951"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Press Enter or click the send button to submit</a:t>
            </a:r>
            <a:endParaRPr lang="en-US" sz="2100" dirty="0"/>
          </a:p>
        </p:txBody>
      </p:sp>
      <p:sp>
        <p:nvSpPr>
          <p:cNvPr id="11" name="Text 5"/>
          <p:cNvSpPr/>
          <p:nvPr/>
        </p:nvSpPr>
        <p:spPr>
          <a:xfrm>
            <a:off x="793790" y="637067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Encourage them to start with something they know from school or daily life so they can easily judge the quality of the answer. Explain that there is no risk of "breaking" the system by asking simple questions.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718185"/>
            <a:ext cx="8665131"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Asking Better Questions (Prompts)</a:t>
            </a:r>
            <a:endParaRPr lang="en-US" sz="4250" dirty="0"/>
          </a:p>
        </p:txBody>
      </p:sp>
      <p:sp>
        <p:nvSpPr>
          <p:cNvPr id="3" name="Text 1"/>
          <p:cNvSpPr/>
          <p:nvPr/>
        </p:nvSpPr>
        <p:spPr>
          <a:xfrm>
            <a:off x="793790" y="1896428"/>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Vague Prompt</a:t>
            </a:r>
            <a:endParaRPr lang="en-US" sz="2100" dirty="0"/>
          </a:p>
        </p:txBody>
      </p:sp>
      <p:sp>
        <p:nvSpPr>
          <p:cNvPr id="4" name="Text 2"/>
          <p:cNvSpPr/>
          <p:nvPr/>
        </p:nvSpPr>
        <p:spPr>
          <a:xfrm>
            <a:off x="1091446" y="2460784"/>
            <a:ext cx="5981700"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"Tell me about marketing"</a:t>
            </a:r>
            <a:endParaRPr lang="en-US" sz="1550" dirty="0"/>
          </a:p>
        </p:txBody>
      </p:sp>
      <p:sp>
        <p:nvSpPr>
          <p:cNvPr id="5" name="Shape 3"/>
          <p:cNvSpPr/>
          <p:nvPr/>
        </p:nvSpPr>
        <p:spPr>
          <a:xfrm>
            <a:off x="793790" y="2460784"/>
            <a:ext cx="22860" cy="317540"/>
          </a:xfrm>
          <a:prstGeom prst="rect">
            <a:avLst/>
          </a:prstGeom>
          <a:solidFill>
            <a:srgbClr val="6237C8"/>
          </a:solidFill>
          <a:ln/>
        </p:spPr>
      </p:sp>
      <p:sp>
        <p:nvSpPr>
          <p:cNvPr id="6" name="Text 4"/>
          <p:cNvSpPr/>
          <p:nvPr/>
        </p:nvSpPr>
        <p:spPr>
          <a:xfrm>
            <a:off x="793790" y="3001566"/>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Too broad, unclear what you want</a:t>
            </a:r>
            <a:endParaRPr lang="en-US" sz="1550" dirty="0"/>
          </a:p>
        </p:txBody>
      </p:sp>
      <p:sp>
        <p:nvSpPr>
          <p:cNvPr id="7" name="Text 5"/>
          <p:cNvSpPr/>
          <p:nvPr/>
        </p:nvSpPr>
        <p:spPr>
          <a:xfrm>
            <a:off x="7564874" y="1896428"/>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Clear Prompt</a:t>
            </a:r>
            <a:endParaRPr lang="en-US" sz="2100" dirty="0"/>
          </a:p>
        </p:txBody>
      </p:sp>
      <p:sp>
        <p:nvSpPr>
          <p:cNvPr id="8" name="Text 6"/>
          <p:cNvSpPr/>
          <p:nvPr/>
        </p:nvSpPr>
        <p:spPr>
          <a:xfrm>
            <a:off x="7862530" y="2460784"/>
            <a:ext cx="5981700"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"Give me three key points about digital marketing for small businesses. Use bullet points and explain for a busy manager."</a:t>
            </a:r>
            <a:endParaRPr lang="en-US" sz="1550" dirty="0"/>
          </a:p>
        </p:txBody>
      </p:sp>
      <p:sp>
        <p:nvSpPr>
          <p:cNvPr id="9" name="Shape 7"/>
          <p:cNvSpPr/>
          <p:nvPr/>
        </p:nvSpPr>
        <p:spPr>
          <a:xfrm>
            <a:off x="7564874" y="2460784"/>
            <a:ext cx="22860" cy="635079"/>
          </a:xfrm>
          <a:prstGeom prst="rect">
            <a:avLst/>
          </a:prstGeom>
          <a:solidFill>
            <a:srgbClr val="6237C8"/>
          </a:solidFill>
          <a:ln/>
        </p:spPr>
      </p:sp>
      <p:sp>
        <p:nvSpPr>
          <p:cNvPr id="10" name="Text 8"/>
          <p:cNvSpPr/>
          <p:nvPr/>
        </p:nvSpPr>
        <p:spPr>
          <a:xfrm>
            <a:off x="7564874" y="3319105"/>
            <a:ext cx="6279356"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Specific, with context and format</a:t>
            </a:r>
            <a:endParaRPr lang="en-US" sz="1550" dirty="0"/>
          </a:p>
        </p:txBody>
      </p:sp>
      <p:sp>
        <p:nvSpPr>
          <p:cNvPr id="11" name="Shape 9"/>
          <p:cNvSpPr/>
          <p:nvPr/>
        </p:nvSpPr>
        <p:spPr>
          <a:xfrm>
            <a:off x="793790" y="4137629"/>
            <a:ext cx="13042821" cy="32385"/>
          </a:xfrm>
          <a:prstGeom prst="rect">
            <a:avLst/>
          </a:prstGeom>
          <a:solidFill>
            <a:srgbClr val="272525">
              <a:alpha val="50000"/>
            </a:srgbClr>
          </a:solidFill>
          <a:ln/>
        </p:spPr>
      </p:sp>
      <p:sp>
        <p:nvSpPr>
          <p:cNvPr id="12" name="Text 10"/>
          <p:cNvSpPr/>
          <p:nvPr/>
        </p:nvSpPr>
        <p:spPr>
          <a:xfrm>
            <a:off x="793790" y="4467582"/>
            <a:ext cx="3523417" cy="409337"/>
          </a:xfrm>
          <a:prstGeom prst="rect">
            <a:avLst/>
          </a:prstGeom>
          <a:noFill/>
          <a:ln/>
        </p:spPr>
        <p:txBody>
          <a:bodyPr wrap="none" lIns="0" tIns="0" rIns="0" bIns="0" rtlCol="0" anchor="t"/>
          <a:lstStyle/>
          <a:p>
            <a:pPr algn="l" indent="0" marL="0">
              <a:lnSpc>
                <a:spcPts val="3200"/>
              </a:lnSpc>
              <a:buNone/>
            </a:pPr>
            <a:r>
              <a:rPr lang="en-US" sz="2550" b="1" dirty="0">
                <a:solidFill>
                  <a:srgbClr val="F95F88"/>
                </a:solidFill>
                <a:latin typeface="Petrona Bold" pitchFamily="34" charset="0"/>
                <a:ea typeface="Petrona Bold" pitchFamily="34" charset="-122"/>
                <a:cs typeface="Petrona Bold" pitchFamily="34" charset="-120"/>
              </a:rPr>
              <a:t>Tips for Better Prompts</a:t>
            </a:r>
            <a:endParaRPr lang="en-US" sz="2550" dirty="0"/>
          </a:p>
        </p:txBody>
      </p:sp>
      <p:sp>
        <p:nvSpPr>
          <p:cNvPr id="13" name="Text 11"/>
          <p:cNvSpPr/>
          <p:nvPr/>
        </p:nvSpPr>
        <p:spPr>
          <a:xfrm>
            <a:off x="793790" y="5174575"/>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Be clear about what you want, for example "Give me three key points about…"</a:t>
            </a:r>
            <a:endParaRPr lang="en-US" sz="1550" dirty="0"/>
          </a:p>
        </p:txBody>
      </p:sp>
      <p:sp>
        <p:nvSpPr>
          <p:cNvPr id="14" name="Text 12"/>
          <p:cNvSpPr/>
          <p:nvPr/>
        </p:nvSpPr>
        <p:spPr>
          <a:xfrm>
            <a:off x="793790" y="5561528"/>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Add context, such as your level: "Explain for a 12 year old," or "for a busy manager."</a:t>
            </a:r>
            <a:endParaRPr lang="en-US" sz="1550" dirty="0"/>
          </a:p>
        </p:txBody>
      </p:sp>
      <p:sp>
        <p:nvSpPr>
          <p:cNvPr id="15" name="Text 13"/>
          <p:cNvSpPr/>
          <p:nvPr/>
        </p:nvSpPr>
        <p:spPr>
          <a:xfrm>
            <a:off x="793790" y="5948482"/>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Ask for a format: "Use bullet points," or "Write a 200 word summary."</a:t>
            </a:r>
            <a:endParaRPr lang="en-US" sz="1550" dirty="0"/>
          </a:p>
        </p:txBody>
      </p:sp>
      <p:sp>
        <p:nvSpPr>
          <p:cNvPr id="16" name="Text 14"/>
          <p:cNvSpPr/>
          <p:nvPr/>
        </p:nvSpPr>
        <p:spPr>
          <a:xfrm>
            <a:off x="793790" y="6335435"/>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You can politely ask the AI to retry if the first answer is not what you need.</a:t>
            </a:r>
            <a:endParaRPr lang="en-US" sz="1550" dirty="0"/>
          </a:p>
        </p:txBody>
      </p:sp>
      <p:sp>
        <p:nvSpPr>
          <p:cNvPr id="17" name="Text 15"/>
          <p:cNvSpPr/>
          <p:nvPr/>
        </p:nvSpPr>
        <p:spPr>
          <a:xfrm>
            <a:off x="793790" y="687621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Explain that the word "prompt" just means "what you type into the chat." Show how small changes in wording can improve results significantly. Give one or two live examples if possible.</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210032"/>
            <a:ext cx="8862179"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Following Up and Refining Answers</a:t>
            </a:r>
            <a:endParaRPr lang="en-US" sz="4250" dirty="0"/>
          </a:p>
        </p:txBody>
      </p:sp>
      <p:pic>
        <p:nvPicPr>
          <p:cNvPr id="3" name="Image 0" descr="preencoded.png">    </p:cNvPr>
          <p:cNvPicPr>
            <a:picLocks noChangeAspect="1"/>
          </p:cNvPicPr>
          <p:nvPr/>
        </p:nvPicPr>
        <p:blipFill>
          <a:blip r:embed="rId1"/>
          <a:stretch>
            <a:fillRect/>
          </a:stretch>
        </p:blipFill>
        <p:spPr>
          <a:xfrm>
            <a:off x="793790" y="2289096"/>
            <a:ext cx="4215289" cy="1389102"/>
          </a:xfrm>
          <a:prstGeom prst="rect">
            <a:avLst/>
          </a:prstGeom>
        </p:spPr>
      </p:pic>
      <p:sp>
        <p:nvSpPr>
          <p:cNvPr id="4" name="Text 1"/>
          <p:cNvSpPr/>
          <p:nvPr/>
        </p:nvSpPr>
        <p:spPr>
          <a:xfrm>
            <a:off x="992148" y="2487454"/>
            <a:ext cx="3818573" cy="317540"/>
          </a:xfrm>
          <a:prstGeom prst="rect">
            <a:avLst/>
          </a:prstGeom>
          <a:noFill/>
          <a:ln/>
        </p:spPr>
        <p:txBody>
          <a:bodyPr wrap="non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User:</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"Explain photosynthesis"</a:t>
            </a:r>
            <a:endParaRPr lang="en-US" sz="1550" dirty="0"/>
          </a:p>
        </p:txBody>
      </p:sp>
      <p:sp>
        <p:nvSpPr>
          <p:cNvPr id="5" name="Text 2"/>
          <p:cNvSpPr/>
          <p:nvPr/>
        </p:nvSpPr>
        <p:spPr>
          <a:xfrm>
            <a:off x="992148" y="2924056"/>
            <a:ext cx="3818573" cy="317540"/>
          </a:xfrm>
          <a:prstGeom prst="rect">
            <a:avLst/>
          </a:prstGeom>
          <a:noFill/>
          <a:ln/>
        </p:spPr>
        <p:txBody>
          <a:bodyPr wrap="non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AI:</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[Gives detailed answer]</a:t>
            </a:r>
            <a:endParaRPr lang="en-US" sz="1550" dirty="0"/>
          </a:p>
        </p:txBody>
      </p:sp>
      <p:pic>
        <p:nvPicPr>
          <p:cNvPr id="6" name="Image 1" descr="preencoded.png">    </p:cNvPr>
          <p:cNvPicPr>
            <a:picLocks noChangeAspect="1"/>
          </p:cNvPicPr>
          <p:nvPr/>
        </p:nvPicPr>
        <p:blipFill>
          <a:blip r:embed="rId2"/>
          <a:stretch>
            <a:fillRect/>
          </a:stretch>
        </p:blipFill>
        <p:spPr>
          <a:xfrm>
            <a:off x="5207437" y="2289096"/>
            <a:ext cx="4215408" cy="1389102"/>
          </a:xfrm>
          <a:prstGeom prst="rect">
            <a:avLst/>
          </a:prstGeom>
        </p:spPr>
      </p:pic>
      <p:sp>
        <p:nvSpPr>
          <p:cNvPr id="7" name="Text 3"/>
          <p:cNvSpPr/>
          <p:nvPr/>
        </p:nvSpPr>
        <p:spPr>
          <a:xfrm>
            <a:off x="5405795" y="2487454"/>
            <a:ext cx="3818692" cy="317540"/>
          </a:xfrm>
          <a:prstGeom prst="rect">
            <a:avLst/>
          </a:prstGeom>
          <a:noFill/>
          <a:ln/>
        </p:spPr>
        <p:txBody>
          <a:bodyPr wrap="non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User:</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"Make that shorter"</a:t>
            </a:r>
            <a:endParaRPr lang="en-US" sz="1550" dirty="0"/>
          </a:p>
        </p:txBody>
      </p:sp>
      <p:sp>
        <p:nvSpPr>
          <p:cNvPr id="8" name="Text 4"/>
          <p:cNvSpPr/>
          <p:nvPr/>
        </p:nvSpPr>
        <p:spPr>
          <a:xfrm>
            <a:off x="5405795" y="2924056"/>
            <a:ext cx="3818692" cy="317540"/>
          </a:xfrm>
          <a:prstGeom prst="rect">
            <a:avLst/>
          </a:prstGeom>
          <a:noFill/>
          <a:ln/>
        </p:spPr>
        <p:txBody>
          <a:bodyPr wrap="non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AI:</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[Gives condensed version]</a:t>
            </a:r>
            <a:endParaRPr lang="en-US" sz="1550" dirty="0"/>
          </a:p>
        </p:txBody>
      </p:sp>
      <p:pic>
        <p:nvPicPr>
          <p:cNvPr id="9" name="Image 2" descr="preencoded.png">    </p:cNvPr>
          <p:cNvPicPr>
            <a:picLocks noChangeAspect="1"/>
          </p:cNvPicPr>
          <p:nvPr/>
        </p:nvPicPr>
        <p:blipFill>
          <a:blip r:embed="rId3"/>
          <a:stretch>
            <a:fillRect/>
          </a:stretch>
        </p:blipFill>
        <p:spPr>
          <a:xfrm>
            <a:off x="9621203" y="2289096"/>
            <a:ext cx="4215289" cy="1389102"/>
          </a:xfrm>
          <a:prstGeom prst="rect">
            <a:avLst/>
          </a:prstGeom>
        </p:spPr>
      </p:pic>
      <p:sp>
        <p:nvSpPr>
          <p:cNvPr id="10" name="Text 5"/>
          <p:cNvSpPr/>
          <p:nvPr/>
        </p:nvSpPr>
        <p:spPr>
          <a:xfrm>
            <a:off x="9819561" y="2487454"/>
            <a:ext cx="3818573" cy="317540"/>
          </a:xfrm>
          <a:prstGeom prst="rect">
            <a:avLst/>
          </a:prstGeom>
          <a:noFill/>
          <a:ln/>
        </p:spPr>
        <p:txBody>
          <a:bodyPr wrap="non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User:</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"Add more detail about step 2"</a:t>
            </a:r>
            <a:endParaRPr lang="en-US" sz="1550" dirty="0"/>
          </a:p>
        </p:txBody>
      </p:sp>
      <p:sp>
        <p:nvSpPr>
          <p:cNvPr id="11" name="Text 6"/>
          <p:cNvSpPr/>
          <p:nvPr/>
        </p:nvSpPr>
        <p:spPr>
          <a:xfrm>
            <a:off x="9819561" y="2924056"/>
            <a:ext cx="3818573" cy="317540"/>
          </a:xfrm>
          <a:prstGeom prst="rect">
            <a:avLst/>
          </a:prstGeom>
          <a:noFill/>
          <a:ln/>
        </p:spPr>
        <p:txBody>
          <a:bodyPr wrap="non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AI:</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[Expands on step 2]</a:t>
            </a:r>
            <a:endParaRPr lang="en-US" sz="1550" dirty="0"/>
          </a:p>
        </p:txBody>
      </p:sp>
      <p:sp>
        <p:nvSpPr>
          <p:cNvPr id="12" name="Text 7"/>
          <p:cNvSpPr/>
          <p:nvPr/>
        </p:nvSpPr>
        <p:spPr>
          <a:xfrm>
            <a:off x="793790" y="3975854"/>
            <a:ext cx="3274814" cy="409337"/>
          </a:xfrm>
          <a:prstGeom prst="rect">
            <a:avLst/>
          </a:prstGeom>
          <a:noFill/>
          <a:ln/>
        </p:spPr>
        <p:txBody>
          <a:bodyPr wrap="none" lIns="0" tIns="0" rIns="0" bIns="0" rtlCol="0" anchor="t"/>
          <a:lstStyle/>
          <a:p>
            <a:pPr algn="l" indent="0" marL="0">
              <a:lnSpc>
                <a:spcPts val="3200"/>
              </a:lnSpc>
              <a:buNone/>
            </a:pPr>
            <a:r>
              <a:rPr lang="en-US" sz="2550" b="1" dirty="0">
                <a:solidFill>
                  <a:srgbClr val="F95F88"/>
                </a:solidFill>
                <a:latin typeface="Petrona Bold" pitchFamily="34" charset="0"/>
                <a:ea typeface="Petrona Bold" pitchFamily="34" charset="-122"/>
                <a:cs typeface="Petrona Bold" pitchFamily="34" charset="-120"/>
              </a:rPr>
              <a:t>Key Points</a:t>
            </a:r>
            <a:endParaRPr lang="en-US" sz="2550" dirty="0"/>
          </a:p>
        </p:txBody>
      </p:sp>
      <p:sp>
        <p:nvSpPr>
          <p:cNvPr id="13" name="Text 8"/>
          <p:cNvSpPr/>
          <p:nvPr/>
        </p:nvSpPr>
        <p:spPr>
          <a:xfrm>
            <a:off x="793790" y="4682847"/>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You do not need to repeat everything. You can say "Make that shorter" or "Add more detail about step 2."</a:t>
            </a:r>
            <a:endParaRPr lang="en-US" sz="1550" dirty="0"/>
          </a:p>
        </p:txBody>
      </p:sp>
      <p:sp>
        <p:nvSpPr>
          <p:cNvPr id="14" name="Text 9"/>
          <p:cNvSpPr/>
          <p:nvPr/>
        </p:nvSpPr>
        <p:spPr>
          <a:xfrm>
            <a:off x="793790" y="5069800"/>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Ask the AI to correct mistakes or update information.</a:t>
            </a:r>
            <a:endParaRPr lang="en-US" sz="1550" dirty="0"/>
          </a:p>
        </p:txBody>
      </p:sp>
      <p:sp>
        <p:nvSpPr>
          <p:cNvPr id="15" name="Text 10"/>
          <p:cNvSpPr/>
          <p:nvPr/>
        </p:nvSpPr>
        <p:spPr>
          <a:xfrm>
            <a:off x="793790" y="5456753"/>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Request alternatives: "Give me a different version focusing on students," for example.</a:t>
            </a:r>
            <a:endParaRPr lang="en-US" sz="1550" dirty="0"/>
          </a:p>
        </p:txBody>
      </p:sp>
      <p:sp>
        <p:nvSpPr>
          <p:cNvPr id="16" name="Text 11"/>
          <p:cNvSpPr/>
          <p:nvPr/>
        </p:nvSpPr>
        <p:spPr>
          <a:xfrm>
            <a:off x="793790" y="5843707"/>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Use this back and forth like you would talk to a helpful colleague.</a:t>
            </a:r>
            <a:endParaRPr lang="en-US" sz="1550" dirty="0"/>
          </a:p>
        </p:txBody>
      </p:sp>
      <p:sp>
        <p:nvSpPr>
          <p:cNvPr id="17" name="Text 12"/>
          <p:cNvSpPr/>
          <p:nvPr/>
        </p:nvSpPr>
        <p:spPr>
          <a:xfrm>
            <a:off x="793790" y="638448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Stress that LibreChat becomes more useful when you treat it as a conversation. Many beginners think they must ask the perfect question first time. Show that it is normal to iterate.</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990725"/>
            <a:ext cx="8503087"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Editing, Branching, and Exporting</a:t>
            </a:r>
            <a:endParaRPr lang="en-US" sz="4250" dirty="0"/>
          </a:p>
        </p:txBody>
      </p:sp>
      <p:sp>
        <p:nvSpPr>
          <p:cNvPr id="3" name="Text 1"/>
          <p:cNvSpPr/>
          <p:nvPr/>
        </p:nvSpPr>
        <p:spPr>
          <a:xfrm>
            <a:off x="793790" y="3168967"/>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Editing</a:t>
            </a:r>
            <a:endParaRPr lang="en-US" sz="2100" dirty="0"/>
          </a:p>
        </p:txBody>
      </p:sp>
      <p:sp>
        <p:nvSpPr>
          <p:cNvPr id="4" name="Text 2"/>
          <p:cNvSpPr/>
          <p:nvPr/>
        </p:nvSpPr>
        <p:spPr>
          <a:xfrm>
            <a:off x="793790" y="3708440"/>
            <a:ext cx="3979664"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Many LibreChat setups let you edit your last question and regenerate the answer.</a:t>
            </a:r>
            <a:endParaRPr lang="en-US" sz="1550" dirty="0"/>
          </a:p>
        </p:txBody>
      </p:sp>
      <p:sp>
        <p:nvSpPr>
          <p:cNvPr id="5" name="Text 3"/>
          <p:cNvSpPr/>
          <p:nvPr/>
        </p:nvSpPr>
        <p:spPr>
          <a:xfrm>
            <a:off x="5265182" y="3168967"/>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Branching</a:t>
            </a:r>
            <a:endParaRPr lang="en-US" sz="2100" dirty="0"/>
          </a:p>
        </p:txBody>
      </p:sp>
      <p:sp>
        <p:nvSpPr>
          <p:cNvPr id="6" name="Text 4"/>
          <p:cNvSpPr/>
          <p:nvPr/>
        </p:nvSpPr>
        <p:spPr>
          <a:xfrm>
            <a:off x="5265182" y="3708440"/>
            <a:ext cx="3979664"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Some allow "branches," which means trying different directions from the same message.</a:t>
            </a:r>
            <a:endParaRPr lang="en-US" sz="1550" dirty="0"/>
          </a:p>
        </p:txBody>
      </p:sp>
      <p:sp>
        <p:nvSpPr>
          <p:cNvPr id="7" name="Text 5"/>
          <p:cNvSpPr/>
          <p:nvPr/>
        </p:nvSpPr>
        <p:spPr>
          <a:xfrm>
            <a:off x="9736574" y="3168967"/>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Exporting</a:t>
            </a:r>
            <a:endParaRPr lang="en-US" sz="2100" dirty="0"/>
          </a:p>
        </p:txBody>
      </p:sp>
      <p:sp>
        <p:nvSpPr>
          <p:cNvPr id="8" name="Text 6"/>
          <p:cNvSpPr/>
          <p:nvPr/>
        </p:nvSpPr>
        <p:spPr>
          <a:xfrm>
            <a:off x="9736574" y="3708440"/>
            <a:ext cx="4115038"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You can often export conversations as text, Markdown, or image for sharing.</a:t>
            </a:r>
            <a:endParaRPr lang="en-US" sz="1550" dirty="0"/>
          </a:p>
        </p:txBody>
      </p:sp>
      <p:sp>
        <p:nvSpPr>
          <p:cNvPr id="9" name="Text 7"/>
          <p:cNvSpPr/>
          <p:nvPr/>
        </p:nvSpPr>
        <p:spPr>
          <a:xfrm>
            <a:off x="793790" y="506289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Exports help you reuse work in documents, slides, or emails.</a:t>
            </a:r>
            <a:endParaRPr lang="en-US" sz="1550" dirty="0"/>
          </a:p>
        </p:txBody>
      </p:sp>
      <p:sp>
        <p:nvSpPr>
          <p:cNvPr id="10" name="Text 8"/>
          <p:cNvSpPr/>
          <p:nvPr/>
        </p:nvSpPr>
        <p:spPr>
          <a:xfrm>
            <a:off x="793790" y="560367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Explain branching using a tree analogy: one trunk (original question) and several branches (different follow up directions). Keep exports concrete with examples such as "attach to an email" or "paste into Word."</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551021"/>
            <a:ext cx="5457944"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What Is a Model</a:t>
            </a:r>
            <a:endParaRPr lang="en-US" sz="4250" dirty="0"/>
          </a:p>
        </p:txBody>
      </p:sp>
      <p:sp>
        <p:nvSpPr>
          <p:cNvPr id="4" name="Shape 1"/>
          <p:cNvSpPr/>
          <p:nvPr/>
        </p:nvSpPr>
        <p:spPr>
          <a:xfrm>
            <a:off x="6280190" y="1530906"/>
            <a:ext cx="7556421" cy="1094184"/>
          </a:xfrm>
          <a:prstGeom prst="roundRect">
            <a:avLst>
              <a:gd name="adj" fmla="val 7618"/>
            </a:avLst>
          </a:prstGeom>
          <a:solidFill>
            <a:srgbClr val="E0D7F4"/>
          </a:solidFill>
          <a:ln w="7620">
            <a:solidFill>
              <a:srgbClr val="C6BDDA"/>
            </a:solidFill>
            <a:prstDash val="solid"/>
          </a:ln>
        </p:spPr>
      </p:sp>
      <p:sp>
        <p:nvSpPr>
          <p:cNvPr id="5" name="Text 2"/>
          <p:cNvSpPr/>
          <p:nvPr/>
        </p:nvSpPr>
        <p:spPr>
          <a:xfrm>
            <a:off x="6486168" y="1736884"/>
            <a:ext cx="714446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A "model" is the brain behind the chat that reads your messages and writes answers</a:t>
            </a:r>
            <a:endParaRPr lang="en-US" sz="2100" dirty="0"/>
          </a:p>
        </p:txBody>
      </p:sp>
      <p:sp>
        <p:nvSpPr>
          <p:cNvPr id="6" name="Shape 3"/>
          <p:cNvSpPr/>
          <p:nvPr/>
        </p:nvSpPr>
        <p:spPr>
          <a:xfrm>
            <a:off x="6280190" y="2823448"/>
            <a:ext cx="7556421" cy="1094184"/>
          </a:xfrm>
          <a:prstGeom prst="roundRect">
            <a:avLst>
              <a:gd name="adj" fmla="val 7618"/>
            </a:avLst>
          </a:prstGeom>
          <a:solidFill>
            <a:srgbClr val="E0D7F4"/>
          </a:solidFill>
          <a:ln w="7620">
            <a:solidFill>
              <a:srgbClr val="C6BDDA"/>
            </a:solidFill>
            <a:prstDash val="solid"/>
          </a:ln>
        </p:spPr>
      </p:sp>
      <p:sp>
        <p:nvSpPr>
          <p:cNvPr id="7" name="Text 4"/>
          <p:cNvSpPr/>
          <p:nvPr/>
        </p:nvSpPr>
        <p:spPr>
          <a:xfrm>
            <a:off x="6486168" y="3029426"/>
            <a:ext cx="714446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LibreChat can connect to many models from different providers, such as OpenAI, Anthropic, Google, and others</a:t>
            </a:r>
            <a:endParaRPr lang="en-US" sz="2100" dirty="0"/>
          </a:p>
        </p:txBody>
      </p:sp>
      <p:sp>
        <p:nvSpPr>
          <p:cNvPr id="8" name="Shape 5"/>
          <p:cNvSpPr/>
          <p:nvPr/>
        </p:nvSpPr>
        <p:spPr>
          <a:xfrm>
            <a:off x="6280190" y="4115991"/>
            <a:ext cx="7556421" cy="1094184"/>
          </a:xfrm>
          <a:prstGeom prst="roundRect">
            <a:avLst>
              <a:gd name="adj" fmla="val 7618"/>
            </a:avLst>
          </a:prstGeom>
          <a:solidFill>
            <a:srgbClr val="E0D7F4"/>
          </a:solidFill>
          <a:ln w="7620">
            <a:solidFill>
              <a:srgbClr val="C6BDDA"/>
            </a:solidFill>
            <a:prstDash val="solid"/>
          </a:ln>
        </p:spPr>
      </p:sp>
      <p:sp>
        <p:nvSpPr>
          <p:cNvPr id="9" name="Text 6"/>
          <p:cNvSpPr/>
          <p:nvPr/>
        </p:nvSpPr>
        <p:spPr>
          <a:xfrm>
            <a:off x="6486168" y="4321969"/>
            <a:ext cx="714446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Different models may be stronger at coding, reasoning, language, or speed</a:t>
            </a:r>
            <a:endParaRPr lang="en-US" sz="2100" dirty="0"/>
          </a:p>
        </p:txBody>
      </p:sp>
      <p:sp>
        <p:nvSpPr>
          <p:cNvPr id="10" name="Shape 7"/>
          <p:cNvSpPr/>
          <p:nvPr/>
        </p:nvSpPr>
        <p:spPr>
          <a:xfrm>
            <a:off x="6280190" y="5408533"/>
            <a:ext cx="7556421" cy="1094184"/>
          </a:xfrm>
          <a:prstGeom prst="roundRect">
            <a:avLst>
              <a:gd name="adj" fmla="val 7618"/>
            </a:avLst>
          </a:prstGeom>
          <a:solidFill>
            <a:srgbClr val="E0D7F4"/>
          </a:solidFill>
          <a:ln w="7620">
            <a:solidFill>
              <a:srgbClr val="C6BDDA"/>
            </a:solidFill>
            <a:prstDash val="solid"/>
          </a:ln>
        </p:spPr>
      </p:sp>
      <p:sp>
        <p:nvSpPr>
          <p:cNvPr id="11" name="Text 8"/>
          <p:cNvSpPr/>
          <p:nvPr/>
        </p:nvSpPr>
        <p:spPr>
          <a:xfrm>
            <a:off x="6486168" y="5614511"/>
            <a:ext cx="714446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You usually select a model from a drop down list at the top of the chat</a:t>
            </a:r>
            <a:endParaRPr lang="en-US" sz="2100" dirty="0"/>
          </a:p>
        </p:txBody>
      </p:sp>
      <p:sp>
        <p:nvSpPr>
          <p:cNvPr id="12" name="Text 9"/>
          <p:cNvSpPr/>
          <p:nvPr/>
        </p:nvSpPr>
        <p:spPr>
          <a:xfrm>
            <a:off x="6280190" y="6725960"/>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Compare models to different "experts" you can invite into the conversation. Some are good at math, some at writing, some at images. Make clear that beginners can safely use the recommended or default model.</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577810"/>
            <a:ext cx="6467832"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Choosing the Right Model</a:t>
            </a:r>
            <a:endParaRPr lang="en-US" sz="4250" dirty="0"/>
          </a:p>
        </p:txBody>
      </p:sp>
      <p:sp>
        <p:nvSpPr>
          <p:cNvPr id="3" name="Shape 1"/>
          <p:cNvSpPr/>
          <p:nvPr/>
        </p:nvSpPr>
        <p:spPr>
          <a:xfrm>
            <a:off x="793790" y="1656874"/>
            <a:ext cx="13042821" cy="2298859"/>
          </a:xfrm>
          <a:prstGeom prst="roundRect">
            <a:avLst>
              <a:gd name="adj" fmla="val 3626"/>
            </a:avLst>
          </a:prstGeom>
          <a:noFill/>
          <a:ln w="7620">
            <a:solidFill>
              <a:srgbClr val="000000">
                <a:alpha val="8000"/>
              </a:srgbClr>
            </a:solidFill>
            <a:prstDash val="solid"/>
          </a:ln>
        </p:spPr>
      </p:sp>
      <p:sp>
        <p:nvSpPr>
          <p:cNvPr id="4" name="Shape 2"/>
          <p:cNvSpPr/>
          <p:nvPr/>
        </p:nvSpPr>
        <p:spPr>
          <a:xfrm>
            <a:off x="801410" y="1664494"/>
            <a:ext cx="13027581" cy="570905"/>
          </a:xfrm>
          <a:prstGeom prst="rect">
            <a:avLst/>
          </a:prstGeom>
          <a:solidFill>
            <a:srgbClr val="FFFFFF">
              <a:alpha val="4000"/>
            </a:srgbClr>
          </a:solidFill>
          <a:ln/>
        </p:spPr>
      </p:sp>
      <p:sp>
        <p:nvSpPr>
          <p:cNvPr id="5" name="Text 3"/>
          <p:cNvSpPr/>
          <p:nvPr/>
        </p:nvSpPr>
        <p:spPr>
          <a:xfrm>
            <a:off x="999887" y="1791176"/>
            <a:ext cx="4810482" cy="317540"/>
          </a:xfrm>
          <a:prstGeom prst="rect">
            <a:avLst/>
          </a:prstGeom>
          <a:noFill/>
          <a:ln/>
        </p:spPr>
        <p:txBody>
          <a:bodyPr wrap="non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Model Type</a:t>
            </a:r>
            <a:endParaRPr lang="en-US" sz="1550" dirty="0"/>
          </a:p>
        </p:txBody>
      </p:sp>
      <p:sp>
        <p:nvSpPr>
          <p:cNvPr id="6" name="Text 4"/>
          <p:cNvSpPr/>
          <p:nvPr/>
        </p:nvSpPr>
        <p:spPr>
          <a:xfrm>
            <a:off x="6214705" y="1791176"/>
            <a:ext cx="3503890" cy="317540"/>
          </a:xfrm>
          <a:prstGeom prst="rect">
            <a:avLst/>
          </a:prstGeom>
          <a:noFill/>
          <a:ln/>
        </p:spPr>
        <p:txBody>
          <a:bodyPr wrap="non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Best For</a:t>
            </a:r>
            <a:endParaRPr lang="en-US" sz="1550" dirty="0"/>
          </a:p>
        </p:txBody>
      </p:sp>
      <p:sp>
        <p:nvSpPr>
          <p:cNvPr id="7" name="Text 5"/>
          <p:cNvSpPr/>
          <p:nvPr/>
        </p:nvSpPr>
        <p:spPr>
          <a:xfrm>
            <a:off x="10122932" y="1791176"/>
            <a:ext cx="3507700" cy="317540"/>
          </a:xfrm>
          <a:prstGeom prst="rect">
            <a:avLst/>
          </a:prstGeom>
          <a:noFill/>
          <a:ln/>
        </p:spPr>
        <p:txBody>
          <a:bodyPr wrap="none" lIns="0" tIns="0" rIns="0" bIns="0" rtlCol="0" anchor="t"/>
          <a:lstStyle/>
          <a:p>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Example Use</a:t>
            </a:r>
            <a:endParaRPr lang="en-US" sz="1550" dirty="0"/>
          </a:p>
        </p:txBody>
      </p:sp>
      <p:sp>
        <p:nvSpPr>
          <p:cNvPr id="8" name="Shape 6"/>
          <p:cNvSpPr/>
          <p:nvPr/>
        </p:nvSpPr>
        <p:spPr>
          <a:xfrm>
            <a:off x="801410" y="2235398"/>
            <a:ext cx="13027581" cy="570905"/>
          </a:xfrm>
          <a:prstGeom prst="rect">
            <a:avLst/>
          </a:prstGeom>
          <a:solidFill>
            <a:srgbClr val="000000">
              <a:alpha val="4000"/>
            </a:srgbClr>
          </a:solidFill>
          <a:ln/>
        </p:spPr>
      </p:sp>
      <p:sp>
        <p:nvSpPr>
          <p:cNvPr id="9" name="Text 7"/>
          <p:cNvSpPr/>
          <p:nvPr/>
        </p:nvSpPr>
        <p:spPr>
          <a:xfrm>
            <a:off x="999887" y="2362081"/>
            <a:ext cx="4810482"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Advanced/Creative</a:t>
            </a:r>
            <a:endParaRPr lang="en-US" sz="1550" dirty="0"/>
          </a:p>
        </p:txBody>
      </p:sp>
      <p:sp>
        <p:nvSpPr>
          <p:cNvPr id="10" name="Text 8"/>
          <p:cNvSpPr/>
          <p:nvPr/>
        </p:nvSpPr>
        <p:spPr>
          <a:xfrm>
            <a:off x="6214705" y="2362081"/>
            <a:ext cx="3503890"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Great for writing</a:t>
            </a:r>
            <a:endParaRPr lang="en-US" sz="1550" dirty="0"/>
          </a:p>
        </p:txBody>
      </p:sp>
      <p:sp>
        <p:nvSpPr>
          <p:cNvPr id="11" name="Text 9"/>
          <p:cNvSpPr/>
          <p:nvPr/>
        </p:nvSpPr>
        <p:spPr>
          <a:xfrm>
            <a:off x="10122932" y="2362081"/>
            <a:ext cx="3507700"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Essays, stories, marketing copy</a:t>
            </a:r>
            <a:endParaRPr lang="en-US" sz="1550" dirty="0"/>
          </a:p>
        </p:txBody>
      </p:sp>
      <p:sp>
        <p:nvSpPr>
          <p:cNvPr id="12" name="Shape 10"/>
          <p:cNvSpPr/>
          <p:nvPr/>
        </p:nvSpPr>
        <p:spPr>
          <a:xfrm>
            <a:off x="801410" y="2806303"/>
            <a:ext cx="13027581" cy="570905"/>
          </a:xfrm>
          <a:prstGeom prst="rect">
            <a:avLst/>
          </a:prstGeom>
          <a:solidFill>
            <a:srgbClr val="FFFFFF">
              <a:alpha val="4000"/>
            </a:srgbClr>
          </a:solidFill>
          <a:ln/>
        </p:spPr>
      </p:sp>
      <p:sp>
        <p:nvSpPr>
          <p:cNvPr id="13" name="Text 11"/>
          <p:cNvSpPr/>
          <p:nvPr/>
        </p:nvSpPr>
        <p:spPr>
          <a:xfrm>
            <a:off x="999887" y="2932986"/>
            <a:ext cx="4810482"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Code-focused</a:t>
            </a:r>
            <a:endParaRPr lang="en-US" sz="1550" dirty="0"/>
          </a:p>
        </p:txBody>
      </p:sp>
      <p:sp>
        <p:nvSpPr>
          <p:cNvPr id="14" name="Text 12"/>
          <p:cNvSpPr/>
          <p:nvPr/>
        </p:nvSpPr>
        <p:spPr>
          <a:xfrm>
            <a:off x="6214705" y="2932986"/>
            <a:ext cx="3503890"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Code friendly</a:t>
            </a:r>
            <a:endParaRPr lang="en-US" sz="1550" dirty="0"/>
          </a:p>
        </p:txBody>
      </p:sp>
      <p:sp>
        <p:nvSpPr>
          <p:cNvPr id="15" name="Text 13"/>
          <p:cNvSpPr/>
          <p:nvPr/>
        </p:nvSpPr>
        <p:spPr>
          <a:xfrm>
            <a:off x="10122932" y="2932986"/>
            <a:ext cx="3507700"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Programming help, debugging</a:t>
            </a:r>
            <a:endParaRPr lang="en-US" sz="1550" dirty="0"/>
          </a:p>
        </p:txBody>
      </p:sp>
      <p:sp>
        <p:nvSpPr>
          <p:cNvPr id="16" name="Shape 14"/>
          <p:cNvSpPr/>
          <p:nvPr/>
        </p:nvSpPr>
        <p:spPr>
          <a:xfrm>
            <a:off x="801410" y="3377208"/>
            <a:ext cx="13027581" cy="570905"/>
          </a:xfrm>
          <a:prstGeom prst="rect">
            <a:avLst/>
          </a:prstGeom>
          <a:solidFill>
            <a:srgbClr val="000000">
              <a:alpha val="4000"/>
            </a:srgbClr>
          </a:solidFill>
          <a:ln/>
        </p:spPr>
      </p:sp>
      <p:sp>
        <p:nvSpPr>
          <p:cNvPr id="17" name="Text 15"/>
          <p:cNvSpPr/>
          <p:nvPr/>
        </p:nvSpPr>
        <p:spPr>
          <a:xfrm>
            <a:off x="999887" y="3503890"/>
            <a:ext cx="4810482"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Fast/Light</a:t>
            </a:r>
            <a:endParaRPr lang="en-US" sz="1550" dirty="0"/>
          </a:p>
        </p:txBody>
      </p:sp>
      <p:sp>
        <p:nvSpPr>
          <p:cNvPr id="18" name="Text 16"/>
          <p:cNvSpPr/>
          <p:nvPr/>
        </p:nvSpPr>
        <p:spPr>
          <a:xfrm>
            <a:off x="6214705" y="3503890"/>
            <a:ext cx="3503890"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Fast and light</a:t>
            </a:r>
            <a:endParaRPr lang="en-US" sz="1550" dirty="0"/>
          </a:p>
        </p:txBody>
      </p:sp>
      <p:sp>
        <p:nvSpPr>
          <p:cNvPr id="19" name="Text 17"/>
          <p:cNvSpPr/>
          <p:nvPr/>
        </p:nvSpPr>
        <p:spPr>
          <a:xfrm>
            <a:off x="10122932" y="3503890"/>
            <a:ext cx="3507700"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Quick questions, simple tasks</a:t>
            </a:r>
            <a:endParaRPr lang="en-US" sz="1550" dirty="0"/>
          </a:p>
        </p:txBody>
      </p:sp>
      <p:sp>
        <p:nvSpPr>
          <p:cNvPr id="20" name="Shape 18"/>
          <p:cNvSpPr/>
          <p:nvPr/>
        </p:nvSpPr>
        <p:spPr>
          <a:xfrm>
            <a:off x="793790" y="4278123"/>
            <a:ext cx="13042821" cy="32385"/>
          </a:xfrm>
          <a:prstGeom prst="rect">
            <a:avLst/>
          </a:prstGeom>
          <a:solidFill>
            <a:srgbClr val="272525">
              <a:alpha val="50000"/>
            </a:srgbClr>
          </a:solidFill>
          <a:ln/>
        </p:spPr>
      </p:sp>
      <p:sp>
        <p:nvSpPr>
          <p:cNvPr id="21" name="Text 19"/>
          <p:cNvSpPr/>
          <p:nvPr/>
        </p:nvSpPr>
        <p:spPr>
          <a:xfrm>
            <a:off x="793790" y="4608076"/>
            <a:ext cx="3274814" cy="409337"/>
          </a:xfrm>
          <a:prstGeom prst="rect">
            <a:avLst/>
          </a:prstGeom>
          <a:noFill/>
          <a:ln/>
        </p:spPr>
        <p:txBody>
          <a:bodyPr wrap="none" lIns="0" tIns="0" rIns="0" bIns="0" rtlCol="0" anchor="t"/>
          <a:lstStyle/>
          <a:p>
            <a:pPr algn="l" indent="0" marL="0">
              <a:lnSpc>
                <a:spcPts val="3200"/>
              </a:lnSpc>
              <a:buNone/>
            </a:pPr>
            <a:r>
              <a:rPr lang="en-US" sz="2550" b="1" dirty="0">
                <a:solidFill>
                  <a:srgbClr val="F95F88"/>
                </a:solidFill>
                <a:latin typeface="Petrona Bold" pitchFamily="34" charset="0"/>
                <a:ea typeface="Petrona Bold" pitchFamily="34" charset="-122"/>
                <a:cs typeface="Petrona Bold" pitchFamily="34" charset="-120"/>
              </a:rPr>
              <a:t>Tips for Choosing</a:t>
            </a:r>
            <a:endParaRPr lang="en-US" sz="2550" dirty="0"/>
          </a:p>
        </p:txBody>
      </p:sp>
      <p:sp>
        <p:nvSpPr>
          <p:cNvPr id="22" name="Text 20"/>
          <p:cNvSpPr/>
          <p:nvPr/>
        </p:nvSpPr>
        <p:spPr>
          <a:xfrm>
            <a:off x="793790" y="5315069"/>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If you are unsure, use the "recommended" or default model suggested by LibreChat or your admin.</a:t>
            </a:r>
            <a:endParaRPr lang="en-US" sz="1550" dirty="0"/>
          </a:p>
        </p:txBody>
      </p:sp>
      <p:sp>
        <p:nvSpPr>
          <p:cNvPr id="23" name="Text 21"/>
          <p:cNvSpPr/>
          <p:nvPr/>
        </p:nvSpPr>
        <p:spPr>
          <a:xfrm>
            <a:off x="793790" y="5702022"/>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For heavy writing tasks, pick models labeled as "advanced" or "creative."</a:t>
            </a:r>
            <a:endParaRPr lang="en-US" sz="1550" dirty="0"/>
          </a:p>
        </p:txBody>
      </p:sp>
      <p:sp>
        <p:nvSpPr>
          <p:cNvPr id="24" name="Text 22"/>
          <p:cNvSpPr/>
          <p:nvPr/>
        </p:nvSpPr>
        <p:spPr>
          <a:xfrm>
            <a:off x="793790" y="6088975"/>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For coding tasks, look for names that mention "code" or "developer."</a:t>
            </a:r>
            <a:endParaRPr lang="en-US" sz="1550" dirty="0"/>
          </a:p>
        </p:txBody>
      </p:sp>
      <p:sp>
        <p:nvSpPr>
          <p:cNvPr id="25" name="Text 23"/>
          <p:cNvSpPr/>
          <p:nvPr/>
        </p:nvSpPr>
        <p:spPr>
          <a:xfrm>
            <a:off x="793790" y="6475928"/>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If your organization limits which models you see, that is normal and usually set by policy.</a:t>
            </a:r>
            <a:endParaRPr lang="en-US" sz="1550" dirty="0"/>
          </a:p>
        </p:txBody>
      </p:sp>
      <p:sp>
        <p:nvSpPr>
          <p:cNvPr id="26" name="Text 24"/>
          <p:cNvSpPr/>
          <p:nvPr/>
        </p:nvSpPr>
        <p:spPr>
          <a:xfrm>
            <a:off x="793790" y="701671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Reassure users that picking the wrong model will not break anything, but that results may vary. Encourage them to try two different models on the same question to see the difference when allowed.</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665089"/>
            <a:ext cx="10582632"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Connections, Keys, and Costs (Conceptual)</a:t>
            </a:r>
            <a:endParaRPr lang="en-US" sz="4250" dirty="0"/>
          </a:p>
        </p:txBody>
      </p:sp>
      <p:sp>
        <p:nvSpPr>
          <p:cNvPr id="3" name="Text 1"/>
          <p:cNvSpPr/>
          <p:nvPr/>
        </p:nvSpPr>
        <p:spPr>
          <a:xfrm>
            <a:off x="793790" y="2823567"/>
            <a:ext cx="763202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LibreChat usually connects to AI providers through secure keys or tokens set by admins.</a:t>
            </a:r>
            <a:endParaRPr lang="en-US" sz="1550" dirty="0"/>
          </a:p>
        </p:txBody>
      </p:sp>
      <p:sp>
        <p:nvSpPr>
          <p:cNvPr id="4" name="Text 2"/>
          <p:cNvSpPr/>
          <p:nvPr/>
        </p:nvSpPr>
        <p:spPr>
          <a:xfrm>
            <a:off x="793790" y="3528060"/>
            <a:ext cx="763202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These keys act like secret passwords that let LibreChat ask models for answers.</a:t>
            </a:r>
            <a:endParaRPr lang="en-US" sz="1550" dirty="0"/>
          </a:p>
        </p:txBody>
      </p:sp>
      <p:sp>
        <p:nvSpPr>
          <p:cNvPr id="5" name="Text 3"/>
          <p:cNvSpPr/>
          <p:nvPr/>
        </p:nvSpPr>
        <p:spPr>
          <a:xfrm>
            <a:off x="793790" y="4232553"/>
            <a:ext cx="763202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Costs are often pay per use and are usually handled by your organization or the person who set up LibreChat.</a:t>
            </a:r>
            <a:endParaRPr lang="en-US" sz="1550" dirty="0"/>
          </a:p>
        </p:txBody>
      </p:sp>
      <p:sp>
        <p:nvSpPr>
          <p:cNvPr id="6" name="Text 4"/>
          <p:cNvSpPr/>
          <p:nvPr/>
        </p:nvSpPr>
        <p:spPr>
          <a:xfrm>
            <a:off x="793790" y="4937046"/>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As a beginner user, you mostly do not need to manage keys yourself.</a:t>
            </a:r>
            <a:endParaRPr lang="en-US" sz="1550" dirty="0"/>
          </a:p>
        </p:txBody>
      </p:sp>
      <p:sp>
        <p:nvSpPr>
          <p:cNvPr id="7" name="Text 5"/>
          <p:cNvSpPr/>
          <p:nvPr/>
        </p:nvSpPr>
        <p:spPr>
          <a:xfrm>
            <a:off x="793790" y="5433179"/>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Keep this non technical. Emphasize security and privacy, noting that keys should never be shared publicly. If relevant, mention that some hosted LibreChat instances hide all of this from end users.</a:t>
            </a:r>
            <a:endParaRPr lang="en-US" sz="1550" dirty="0"/>
          </a:p>
        </p:txBody>
      </p:sp>
      <p:pic>
        <p:nvPicPr>
          <p:cNvPr id="8" name="Image 0" descr="preencoded.png">    </p:cNvPr>
          <p:cNvPicPr>
            <a:picLocks noChangeAspect="1"/>
          </p:cNvPicPr>
          <p:nvPr/>
        </p:nvPicPr>
        <p:blipFill>
          <a:blip r:embed="rId1"/>
          <a:stretch>
            <a:fillRect/>
          </a:stretch>
        </p:blipFill>
        <p:spPr>
          <a:xfrm>
            <a:off x="8917543" y="2868216"/>
            <a:ext cx="2286000" cy="228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615553"/>
            <a:ext cx="9133880"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What Is a Prompt Template or Preset</a:t>
            </a:r>
            <a:endParaRPr lang="en-US" sz="4250" dirty="0"/>
          </a:p>
        </p:txBody>
      </p:sp>
      <p:sp>
        <p:nvSpPr>
          <p:cNvPr id="3" name="Text 1"/>
          <p:cNvSpPr/>
          <p:nvPr/>
        </p:nvSpPr>
        <p:spPr>
          <a:xfrm>
            <a:off x="793790" y="1595438"/>
            <a:ext cx="13042821" cy="2824282"/>
          </a:xfrm>
          <a:prstGeom prst="rect">
            <a:avLst/>
          </a:prstGeom>
          <a:noFill/>
          <a:ln/>
        </p:spPr>
        <p:txBody>
          <a:bodyPr wrap="square" lIns="0" tIns="0" rIns="0" bIns="0" rtlCol="0" anchor="t"/>
          <a:lstStyle/>
          <a:p>
            <a:pPr algn="l" indent="0" marL="0">
              <a:lnSpc>
                <a:spcPts val="7400"/>
              </a:lnSpc>
              <a:buNone/>
            </a:pPr>
            <a:r>
              <a:rPr lang="en-US" sz="5900" b="1" dirty="0">
                <a:solidFill>
                  <a:srgbClr val="28282F"/>
                </a:solidFill>
                <a:latin typeface="Petrona Bold" pitchFamily="34" charset="0"/>
                <a:ea typeface="Petrona Bold" pitchFamily="34" charset="-122"/>
                <a:cs typeface="Petrona Bold" pitchFamily="34" charset="-120"/>
              </a:rPr>
              <a:t>A prompt template or preset is a saved starting message you can reuse many times.</a:t>
            </a:r>
            <a:endParaRPr lang="en-US" sz="5900" dirty="0"/>
          </a:p>
        </p:txBody>
      </p:sp>
      <p:sp>
        <p:nvSpPr>
          <p:cNvPr id="4" name="Shape 2"/>
          <p:cNvSpPr/>
          <p:nvPr/>
        </p:nvSpPr>
        <p:spPr>
          <a:xfrm>
            <a:off x="793790" y="5015032"/>
            <a:ext cx="4215289" cy="1740694"/>
          </a:xfrm>
          <a:prstGeom prst="roundRect">
            <a:avLst>
              <a:gd name="adj" fmla="val 6304"/>
            </a:avLst>
          </a:prstGeom>
          <a:solidFill>
            <a:srgbClr val="FDFAF7"/>
          </a:solidFill>
          <a:ln/>
        </p:spPr>
      </p:sp>
      <p:sp>
        <p:nvSpPr>
          <p:cNvPr id="5" name="Shape 3"/>
          <p:cNvSpPr/>
          <p:nvPr/>
        </p:nvSpPr>
        <p:spPr>
          <a:xfrm>
            <a:off x="793790" y="4992172"/>
            <a:ext cx="4215289" cy="91440"/>
          </a:xfrm>
          <a:prstGeom prst="roundRect">
            <a:avLst>
              <a:gd name="adj" fmla="val 91163"/>
            </a:avLst>
          </a:prstGeom>
          <a:solidFill>
            <a:srgbClr val="6237C8"/>
          </a:solidFill>
          <a:ln/>
        </p:spPr>
      </p:sp>
      <p:sp>
        <p:nvSpPr>
          <p:cNvPr id="6" name="Shape 4"/>
          <p:cNvSpPr/>
          <p:nvPr/>
        </p:nvSpPr>
        <p:spPr>
          <a:xfrm>
            <a:off x="2603778" y="4717375"/>
            <a:ext cx="595313" cy="595313"/>
          </a:xfrm>
          <a:prstGeom prst="roundRect">
            <a:avLst>
              <a:gd name="adj" fmla="val 153600"/>
            </a:avLst>
          </a:prstGeom>
          <a:solidFill>
            <a:srgbClr val="6237C8"/>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82372" y="4895969"/>
            <a:ext cx="238125" cy="238125"/>
          </a:xfrm>
          <a:prstGeom prst="rect">
            <a:avLst/>
          </a:prstGeom>
        </p:spPr>
      </p:pic>
      <p:sp>
        <p:nvSpPr>
          <p:cNvPr id="8" name="Text 5"/>
          <p:cNvSpPr/>
          <p:nvPr/>
        </p:nvSpPr>
        <p:spPr>
          <a:xfrm>
            <a:off x="1015008" y="5511165"/>
            <a:ext cx="3772853" cy="1023342"/>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It can include role, style, and instructions, for example "Act as a language tutor."</a:t>
            </a:r>
            <a:endParaRPr lang="en-US" sz="2100" dirty="0"/>
          </a:p>
        </p:txBody>
      </p:sp>
      <p:sp>
        <p:nvSpPr>
          <p:cNvPr id="9" name="Shape 6"/>
          <p:cNvSpPr/>
          <p:nvPr/>
        </p:nvSpPr>
        <p:spPr>
          <a:xfrm>
            <a:off x="5207437" y="5015032"/>
            <a:ext cx="4215408" cy="1740694"/>
          </a:xfrm>
          <a:prstGeom prst="roundRect">
            <a:avLst>
              <a:gd name="adj" fmla="val 6304"/>
            </a:avLst>
          </a:prstGeom>
          <a:solidFill>
            <a:srgbClr val="FDFAF7"/>
          </a:solidFill>
          <a:ln/>
        </p:spPr>
      </p:sp>
      <p:sp>
        <p:nvSpPr>
          <p:cNvPr id="10" name="Shape 7"/>
          <p:cNvSpPr/>
          <p:nvPr/>
        </p:nvSpPr>
        <p:spPr>
          <a:xfrm>
            <a:off x="5207437" y="4992172"/>
            <a:ext cx="4215408" cy="91440"/>
          </a:xfrm>
          <a:prstGeom prst="roundRect">
            <a:avLst>
              <a:gd name="adj" fmla="val 91163"/>
            </a:avLst>
          </a:prstGeom>
          <a:solidFill>
            <a:srgbClr val="6237C8"/>
          </a:solidFill>
          <a:ln/>
        </p:spPr>
      </p:sp>
      <p:sp>
        <p:nvSpPr>
          <p:cNvPr id="11" name="Shape 8"/>
          <p:cNvSpPr/>
          <p:nvPr/>
        </p:nvSpPr>
        <p:spPr>
          <a:xfrm>
            <a:off x="7017425" y="4717375"/>
            <a:ext cx="595313" cy="595313"/>
          </a:xfrm>
          <a:prstGeom prst="roundRect">
            <a:avLst>
              <a:gd name="adj" fmla="val 153600"/>
            </a:avLst>
          </a:prstGeom>
          <a:solidFill>
            <a:srgbClr val="6237C8"/>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96018" y="4895969"/>
            <a:ext cx="238125" cy="238125"/>
          </a:xfrm>
          <a:prstGeom prst="rect">
            <a:avLst/>
          </a:prstGeom>
        </p:spPr>
      </p:pic>
      <p:sp>
        <p:nvSpPr>
          <p:cNvPr id="13" name="Text 9"/>
          <p:cNvSpPr/>
          <p:nvPr/>
        </p:nvSpPr>
        <p:spPr>
          <a:xfrm>
            <a:off x="5428655" y="5511165"/>
            <a:ext cx="3772972" cy="1023342"/>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Presets help you get consistent results without rewriting long instructions.</a:t>
            </a:r>
            <a:endParaRPr lang="en-US" sz="2100" dirty="0"/>
          </a:p>
        </p:txBody>
      </p:sp>
      <p:sp>
        <p:nvSpPr>
          <p:cNvPr id="14" name="Shape 10"/>
          <p:cNvSpPr/>
          <p:nvPr/>
        </p:nvSpPr>
        <p:spPr>
          <a:xfrm>
            <a:off x="9621203" y="5015032"/>
            <a:ext cx="4215289" cy="1740694"/>
          </a:xfrm>
          <a:prstGeom prst="roundRect">
            <a:avLst>
              <a:gd name="adj" fmla="val 6304"/>
            </a:avLst>
          </a:prstGeom>
          <a:solidFill>
            <a:srgbClr val="FDFAF7"/>
          </a:solidFill>
          <a:ln/>
        </p:spPr>
      </p:sp>
      <p:sp>
        <p:nvSpPr>
          <p:cNvPr id="15" name="Shape 11"/>
          <p:cNvSpPr/>
          <p:nvPr/>
        </p:nvSpPr>
        <p:spPr>
          <a:xfrm>
            <a:off x="9621203" y="4992172"/>
            <a:ext cx="4215289" cy="91440"/>
          </a:xfrm>
          <a:prstGeom prst="roundRect">
            <a:avLst>
              <a:gd name="adj" fmla="val 91163"/>
            </a:avLst>
          </a:prstGeom>
          <a:solidFill>
            <a:srgbClr val="6237C8"/>
          </a:solidFill>
          <a:ln/>
        </p:spPr>
      </p:sp>
      <p:sp>
        <p:nvSpPr>
          <p:cNvPr id="16" name="Shape 12"/>
          <p:cNvSpPr/>
          <p:nvPr/>
        </p:nvSpPr>
        <p:spPr>
          <a:xfrm>
            <a:off x="11431191" y="4717375"/>
            <a:ext cx="595313" cy="595313"/>
          </a:xfrm>
          <a:prstGeom prst="roundRect">
            <a:avLst>
              <a:gd name="adj" fmla="val 153600"/>
            </a:avLst>
          </a:prstGeom>
          <a:solidFill>
            <a:srgbClr val="6237C8"/>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09784" y="4895969"/>
            <a:ext cx="238125" cy="238125"/>
          </a:xfrm>
          <a:prstGeom prst="rect">
            <a:avLst/>
          </a:prstGeom>
        </p:spPr>
      </p:pic>
      <p:sp>
        <p:nvSpPr>
          <p:cNvPr id="18" name="Text 13"/>
          <p:cNvSpPr/>
          <p:nvPr/>
        </p:nvSpPr>
        <p:spPr>
          <a:xfrm>
            <a:off x="9842421" y="5511165"/>
            <a:ext cx="3772853" cy="1023342"/>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Many LibreChat setups allow saving and naming your favorite prompts.</a:t>
            </a:r>
            <a:endParaRPr lang="en-US" sz="2100" dirty="0"/>
          </a:p>
        </p:txBody>
      </p:sp>
      <p:sp>
        <p:nvSpPr>
          <p:cNvPr id="19" name="Text 14"/>
          <p:cNvSpPr/>
          <p:nvPr/>
        </p:nvSpPr>
        <p:spPr>
          <a:xfrm>
            <a:off x="793790" y="697896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Explain presets like "email templates" in Outlook or Gmail. Show how they save time and reduce mistakes. Mention that teams can agree on shared presets for common tasks.</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649367"/>
            <a:ext cx="6124456" cy="648057"/>
          </a:xfrm>
          <a:prstGeom prst="rect">
            <a:avLst/>
          </a:prstGeom>
          <a:noFill/>
          <a:ln/>
        </p:spPr>
        <p:txBody>
          <a:bodyPr wrap="none" lIns="0" tIns="0" rIns="0" bIns="0" rtlCol="0" anchor="t"/>
          <a:lstStyle/>
          <a:p>
            <a:pPr algn="l" indent="0" marL="0">
              <a:lnSpc>
                <a:spcPts val="5100"/>
              </a:lnSpc>
              <a:buNone/>
            </a:pPr>
            <a:r>
              <a:rPr lang="en-US" sz="4050" b="1" dirty="0">
                <a:solidFill>
                  <a:srgbClr val="F95F88"/>
                </a:solidFill>
                <a:latin typeface="Petrona Bold" pitchFamily="34" charset="0"/>
                <a:ea typeface="Petrona Bold" pitchFamily="34" charset="-122"/>
                <a:cs typeface="Petrona Bold" pitchFamily="34" charset="-120"/>
              </a:rPr>
              <a:t>Creating Your First Preset</a:t>
            </a:r>
            <a:endParaRPr lang="en-US" sz="4050" dirty="0"/>
          </a:p>
        </p:txBody>
      </p:sp>
      <p:sp>
        <p:nvSpPr>
          <p:cNvPr id="3" name="Shape 1"/>
          <p:cNvSpPr/>
          <p:nvPr/>
        </p:nvSpPr>
        <p:spPr>
          <a:xfrm>
            <a:off x="793790" y="1674495"/>
            <a:ext cx="754142" cy="1131213"/>
          </a:xfrm>
          <a:prstGeom prst="roundRect">
            <a:avLst>
              <a:gd name="adj" fmla="val 360029"/>
            </a:avLst>
          </a:prstGeom>
          <a:solidFill>
            <a:srgbClr val="E0D7F4"/>
          </a:solidFill>
          <a:ln w="7620">
            <a:solidFill>
              <a:srgbClr val="C6BDDA"/>
            </a:solidFill>
            <a:prstDash val="solid"/>
          </a:ln>
        </p:spPr>
      </p:sp>
      <p:sp>
        <p:nvSpPr>
          <p:cNvPr id="4" name="Text 2"/>
          <p:cNvSpPr/>
          <p:nvPr/>
        </p:nvSpPr>
        <p:spPr>
          <a:xfrm>
            <a:off x="1029414" y="2063353"/>
            <a:ext cx="282773" cy="353497"/>
          </a:xfrm>
          <a:prstGeom prst="rect">
            <a:avLst/>
          </a:prstGeom>
          <a:noFill/>
          <a:ln/>
        </p:spPr>
        <p:txBody>
          <a:bodyPr wrap="none" lIns="0" tIns="0" rIns="0" bIns="0" rtlCol="0" anchor="t"/>
          <a:lstStyle/>
          <a:p>
            <a:pPr algn="l" indent="0" marL="0">
              <a:lnSpc>
                <a:spcPts val="2200"/>
              </a:lnSpc>
              <a:buNone/>
            </a:pPr>
            <a:r>
              <a:rPr lang="en-US" sz="2200" b="1" dirty="0">
                <a:solidFill>
                  <a:srgbClr val="272525"/>
                </a:solidFill>
                <a:latin typeface="Petrona Bold" pitchFamily="34" charset="0"/>
                <a:ea typeface="Petrona Bold" pitchFamily="34" charset="-122"/>
                <a:cs typeface="Petrona Bold" pitchFamily="34" charset="-120"/>
              </a:rPr>
              <a:t>1</a:t>
            </a:r>
            <a:endParaRPr lang="en-US" sz="2200" dirty="0"/>
          </a:p>
        </p:txBody>
      </p:sp>
      <p:sp>
        <p:nvSpPr>
          <p:cNvPr id="5" name="Text 3"/>
          <p:cNvSpPr/>
          <p:nvPr/>
        </p:nvSpPr>
        <p:spPr>
          <a:xfrm>
            <a:off x="1736408" y="1862971"/>
            <a:ext cx="12100203" cy="647938"/>
          </a:xfrm>
          <a:prstGeom prst="rect">
            <a:avLst/>
          </a:prstGeom>
          <a:noFill/>
          <a:ln/>
        </p:spPr>
        <p:txBody>
          <a:bodyPr wrap="square" lIns="0" tIns="0" rIns="0" bIns="0" rtlCol="0" anchor="t"/>
          <a:lstStyle/>
          <a:p>
            <a:pPr algn="l" indent="0" marL="0">
              <a:lnSpc>
                <a:spcPts val="2550"/>
              </a:lnSpc>
              <a:buNone/>
            </a:pPr>
            <a:r>
              <a:rPr lang="en-US" sz="2000" b="1" dirty="0">
                <a:solidFill>
                  <a:srgbClr val="272525"/>
                </a:solidFill>
                <a:latin typeface="Petrona Bold" pitchFamily="34" charset="0"/>
                <a:ea typeface="Petrona Bold" pitchFamily="34" charset="-122"/>
                <a:cs typeface="Petrona Bold" pitchFamily="34" charset="-120"/>
              </a:rPr>
              <a:t>Start a new chat and write a detailed instruction, such as "You are my study coach. Ask me questions and explain concepts simply."</a:t>
            </a:r>
            <a:endParaRPr lang="en-US" sz="2000" dirty="0"/>
          </a:p>
        </p:txBody>
      </p:sp>
      <p:sp>
        <p:nvSpPr>
          <p:cNvPr id="6" name="Shape 4"/>
          <p:cNvSpPr/>
          <p:nvPr/>
        </p:nvSpPr>
        <p:spPr>
          <a:xfrm>
            <a:off x="793790" y="2994184"/>
            <a:ext cx="754142" cy="1131213"/>
          </a:xfrm>
          <a:prstGeom prst="roundRect">
            <a:avLst>
              <a:gd name="adj" fmla="val 360029"/>
            </a:avLst>
          </a:prstGeom>
          <a:solidFill>
            <a:srgbClr val="E0D7F4"/>
          </a:solidFill>
          <a:ln w="7620">
            <a:solidFill>
              <a:srgbClr val="C6BDDA"/>
            </a:solidFill>
            <a:prstDash val="solid"/>
          </a:ln>
        </p:spPr>
      </p:sp>
      <p:sp>
        <p:nvSpPr>
          <p:cNvPr id="7" name="Text 5"/>
          <p:cNvSpPr/>
          <p:nvPr/>
        </p:nvSpPr>
        <p:spPr>
          <a:xfrm>
            <a:off x="1029414" y="3383042"/>
            <a:ext cx="282773" cy="353497"/>
          </a:xfrm>
          <a:prstGeom prst="rect">
            <a:avLst/>
          </a:prstGeom>
          <a:noFill/>
          <a:ln/>
        </p:spPr>
        <p:txBody>
          <a:bodyPr wrap="none" lIns="0" tIns="0" rIns="0" bIns="0" rtlCol="0" anchor="t"/>
          <a:lstStyle/>
          <a:p>
            <a:pPr algn="l" indent="0" marL="0">
              <a:lnSpc>
                <a:spcPts val="2200"/>
              </a:lnSpc>
              <a:buNone/>
            </a:pPr>
            <a:r>
              <a:rPr lang="en-US" sz="2200" b="1" dirty="0">
                <a:solidFill>
                  <a:srgbClr val="272525"/>
                </a:solidFill>
                <a:latin typeface="Petrona Bold" pitchFamily="34" charset="0"/>
                <a:ea typeface="Petrona Bold" pitchFamily="34" charset="-122"/>
                <a:cs typeface="Petrona Bold" pitchFamily="34" charset="-120"/>
              </a:rPr>
              <a:t>2</a:t>
            </a:r>
            <a:endParaRPr lang="en-US" sz="2200" dirty="0"/>
          </a:p>
        </p:txBody>
      </p:sp>
      <p:sp>
        <p:nvSpPr>
          <p:cNvPr id="8" name="Text 6"/>
          <p:cNvSpPr/>
          <p:nvPr/>
        </p:nvSpPr>
        <p:spPr>
          <a:xfrm>
            <a:off x="1736408" y="3182660"/>
            <a:ext cx="8693110" cy="323969"/>
          </a:xfrm>
          <a:prstGeom prst="rect">
            <a:avLst/>
          </a:prstGeom>
          <a:noFill/>
          <a:ln/>
        </p:spPr>
        <p:txBody>
          <a:bodyPr wrap="none" lIns="0" tIns="0" rIns="0" bIns="0" rtlCol="0" anchor="t"/>
          <a:lstStyle/>
          <a:p>
            <a:pPr algn="l" indent="0" marL="0">
              <a:lnSpc>
                <a:spcPts val="2550"/>
              </a:lnSpc>
              <a:buNone/>
            </a:pPr>
            <a:r>
              <a:rPr lang="en-US" sz="2000" b="1" dirty="0">
                <a:solidFill>
                  <a:srgbClr val="272525"/>
                </a:solidFill>
                <a:latin typeface="Petrona Bold" pitchFamily="34" charset="0"/>
                <a:ea typeface="Petrona Bold" pitchFamily="34" charset="-122"/>
                <a:cs typeface="Petrona Bold" pitchFamily="34" charset="-120"/>
              </a:rPr>
              <a:t>Test it with a sample question and adjust the wording until you are happy.</a:t>
            </a:r>
            <a:endParaRPr lang="en-US" sz="2000" dirty="0"/>
          </a:p>
        </p:txBody>
      </p:sp>
      <p:sp>
        <p:nvSpPr>
          <p:cNvPr id="9" name="Shape 7"/>
          <p:cNvSpPr/>
          <p:nvPr/>
        </p:nvSpPr>
        <p:spPr>
          <a:xfrm>
            <a:off x="793790" y="4313873"/>
            <a:ext cx="754142" cy="1131213"/>
          </a:xfrm>
          <a:prstGeom prst="roundRect">
            <a:avLst>
              <a:gd name="adj" fmla="val 360029"/>
            </a:avLst>
          </a:prstGeom>
          <a:solidFill>
            <a:srgbClr val="E0D7F4"/>
          </a:solidFill>
          <a:ln w="7620">
            <a:solidFill>
              <a:srgbClr val="C6BDDA"/>
            </a:solidFill>
            <a:prstDash val="solid"/>
          </a:ln>
        </p:spPr>
      </p:sp>
      <p:sp>
        <p:nvSpPr>
          <p:cNvPr id="10" name="Text 8"/>
          <p:cNvSpPr/>
          <p:nvPr/>
        </p:nvSpPr>
        <p:spPr>
          <a:xfrm>
            <a:off x="1029414" y="4702731"/>
            <a:ext cx="282773" cy="353497"/>
          </a:xfrm>
          <a:prstGeom prst="rect">
            <a:avLst/>
          </a:prstGeom>
          <a:noFill/>
          <a:ln/>
        </p:spPr>
        <p:txBody>
          <a:bodyPr wrap="none" lIns="0" tIns="0" rIns="0" bIns="0" rtlCol="0" anchor="t"/>
          <a:lstStyle/>
          <a:p>
            <a:pPr algn="l" indent="0" marL="0">
              <a:lnSpc>
                <a:spcPts val="2200"/>
              </a:lnSpc>
              <a:buNone/>
            </a:pPr>
            <a:r>
              <a:rPr lang="en-US" sz="2200" b="1" dirty="0">
                <a:solidFill>
                  <a:srgbClr val="272525"/>
                </a:solidFill>
                <a:latin typeface="Petrona Bold" pitchFamily="34" charset="0"/>
                <a:ea typeface="Petrona Bold" pitchFamily="34" charset="-122"/>
                <a:cs typeface="Petrona Bold" pitchFamily="34" charset="-120"/>
              </a:rPr>
              <a:t>3</a:t>
            </a:r>
            <a:endParaRPr lang="en-US" sz="2200" dirty="0"/>
          </a:p>
        </p:txBody>
      </p:sp>
      <p:sp>
        <p:nvSpPr>
          <p:cNvPr id="11" name="Text 9"/>
          <p:cNvSpPr/>
          <p:nvPr/>
        </p:nvSpPr>
        <p:spPr>
          <a:xfrm>
            <a:off x="1736408" y="4502348"/>
            <a:ext cx="6763107" cy="323969"/>
          </a:xfrm>
          <a:prstGeom prst="rect">
            <a:avLst/>
          </a:prstGeom>
          <a:noFill/>
          <a:ln/>
        </p:spPr>
        <p:txBody>
          <a:bodyPr wrap="none" lIns="0" tIns="0" rIns="0" bIns="0" rtlCol="0" anchor="t"/>
          <a:lstStyle/>
          <a:p>
            <a:pPr algn="l" indent="0" marL="0">
              <a:lnSpc>
                <a:spcPts val="2550"/>
              </a:lnSpc>
              <a:buNone/>
            </a:pPr>
            <a:r>
              <a:rPr lang="en-US" sz="2000" b="1" dirty="0">
                <a:solidFill>
                  <a:srgbClr val="272525"/>
                </a:solidFill>
                <a:latin typeface="Petrona Bold" pitchFamily="34" charset="0"/>
                <a:ea typeface="Petrona Bold" pitchFamily="34" charset="-122"/>
                <a:cs typeface="Petrona Bold" pitchFamily="34" charset="-120"/>
              </a:rPr>
              <a:t>Use the "Save as preset" or similar button in the interface.</a:t>
            </a:r>
            <a:endParaRPr lang="en-US" sz="2000" dirty="0"/>
          </a:p>
        </p:txBody>
      </p:sp>
      <p:sp>
        <p:nvSpPr>
          <p:cNvPr id="12" name="Shape 10"/>
          <p:cNvSpPr/>
          <p:nvPr/>
        </p:nvSpPr>
        <p:spPr>
          <a:xfrm>
            <a:off x="793790" y="5633561"/>
            <a:ext cx="754142" cy="1131213"/>
          </a:xfrm>
          <a:prstGeom prst="roundRect">
            <a:avLst>
              <a:gd name="adj" fmla="val 360029"/>
            </a:avLst>
          </a:prstGeom>
          <a:solidFill>
            <a:srgbClr val="E0D7F4"/>
          </a:solidFill>
          <a:ln w="7620">
            <a:solidFill>
              <a:srgbClr val="C6BDDA"/>
            </a:solidFill>
            <a:prstDash val="solid"/>
          </a:ln>
        </p:spPr>
      </p:sp>
      <p:sp>
        <p:nvSpPr>
          <p:cNvPr id="13" name="Text 11"/>
          <p:cNvSpPr/>
          <p:nvPr/>
        </p:nvSpPr>
        <p:spPr>
          <a:xfrm>
            <a:off x="1029414" y="6022419"/>
            <a:ext cx="282773" cy="353497"/>
          </a:xfrm>
          <a:prstGeom prst="rect">
            <a:avLst/>
          </a:prstGeom>
          <a:noFill/>
          <a:ln/>
        </p:spPr>
        <p:txBody>
          <a:bodyPr wrap="none" lIns="0" tIns="0" rIns="0" bIns="0" rtlCol="0" anchor="t"/>
          <a:lstStyle/>
          <a:p>
            <a:pPr algn="l" indent="0" marL="0">
              <a:lnSpc>
                <a:spcPts val="2200"/>
              </a:lnSpc>
              <a:buNone/>
            </a:pPr>
            <a:r>
              <a:rPr lang="en-US" sz="2200" b="1" dirty="0">
                <a:solidFill>
                  <a:srgbClr val="272525"/>
                </a:solidFill>
                <a:latin typeface="Petrona Bold" pitchFamily="34" charset="0"/>
                <a:ea typeface="Petrona Bold" pitchFamily="34" charset="-122"/>
                <a:cs typeface="Petrona Bold" pitchFamily="34" charset="-120"/>
              </a:rPr>
              <a:t>4</a:t>
            </a:r>
            <a:endParaRPr lang="en-US" sz="2200" dirty="0"/>
          </a:p>
        </p:txBody>
      </p:sp>
      <p:sp>
        <p:nvSpPr>
          <p:cNvPr id="14" name="Text 12"/>
          <p:cNvSpPr/>
          <p:nvPr/>
        </p:nvSpPr>
        <p:spPr>
          <a:xfrm>
            <a:off x="1736408" y="5822037"/>
            <a:ext cx="6648807" cy="323969"/>
          </a:xfrm>
          <a:prstGeom prst="rect">
            <a:avLst/>
          </a:prstGeom>
          <a:noFill/>
          <a:ln/>
        </p:spPr>
        <p:txBody>
          <a:bodyPr wrap="none" lIns="0" tIns="0" rIns="0" bIns="0" rtlCol="0" anchor="t"/>
          <a:lstStyle/>
          <a:p>
            <a:pPr algn="l" indent="0" marL="0">
              <a:lnSpc>
                <a:spcPts val="2550"/>
              </a:lnSpc>
              <a:buNone/>
            </a:pPr>
            <a:r>
              <a:rPr lang="en-US" sz="2000" b="1" dirty="0">
                <a:solidFill>
                  <a:srgbClr val="272525"/>
                </a:solidFill>
                <a:latin typeface="Petrona Bold" pitchFamily="34" charset="0"/>
                <a:ea typeface="Petrona Bold" pitchFamily="34" charset="-122"/>
                <a:cs typeface="Petrona Bold" pitchFamily="34" charset="-120"/>
              </a:rPr>
              <a:t>Give it a clear name, for example "Study Coach (School)."</a:t>
            </a:r>
            <a:endParaRPr lang="en-US" sz="2000" dirty="0"/>
          </a:p>
        </p:txBody>
      </p:sp>
      <p:sp>
        <p:nvSpPr>
          <p:cNvPr id="15" name="Text 13"/>
          <p:cNvSpPr/>
          <p:nvPr/>
        </p:nvSpPr>
        <p:spPr>
          <a:xfrm>
            <a:off x="793790" y="6976824"/>
            <a:ext cx="13042821" cy="603409"/>
          </a:xfrm>
          <a:prstGeom prst="rect">
            <a:avLst/>
          </a:prstGeom>
          <a:noFill/>
          <a:ln/>
        </p:spPr>
        <p:txBody>
          <a:bodyPr wrap="square" lIns="0" tIns="0" rIns="0" bIns="0" rtlCol="0" anchor="t"/>
          <a:lstStyle/>
          <a:p>
            <a:pPr algn="l" indent="0" marL="0">
              <a:lnSpc>
                <a:spcPts val="2350"/>
              </a:lnSpc>
              <a:buNone/>
            </a:pPr>
            <a:r>
              <a:rPr lang="en-US" sz="1450" dirty="0">
                <a:solidFill>
                  <a:srgbClr val="272525"/>
                </a:solidFill>
                <a:latin typeface="Inter" pitchFamily="34" charset="0"/>
                <a:ea typeface="Inter" pitchFamily="34" charset="-122"/>
                <a:cs typeface="Inter" pitchFamily="34" charset="-120"/>
              </a:rPr>
              <a:t>Show the full text of a simple but effective preset. Explain that they can refine the preset over time and resave it. Encourage them to keep names short but descriptive, since names appear in lists and menus.</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2052161"/>
            <a:ext cx="8396168"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Example Presets for Everyday Use</a:t>
            </a:r>
            <a:endParaRPr lang="en-US" sz="42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131225"/>
            <a:ext cx="496133" cy="496133"/>
          </a:xfrm>
          <a:prstGeom prst="rect">
            <a:avLst/>
          </a:prstGeom>
        </p:spPr>
      </p:pic>
      <p:sp>
        <p:nvSpPr>
          <p:cNvPr id="4" name="Text 1"/>
          <p:cNvSpPr/>
          <p:nvPr/>
        </p:nvSpPr>
        <p:spPr>
          <a:xfrm>
            <a:off x="1537930" y="3248978"/>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"Email Assistant"</a:t>
            </a:r>
            <a:endParaRPr lang="en-US" sz="2100" dirty="0"/>
          </a:p>
        </p:txBody>
      </p:sp>
      <p:sp>
        <p:nvSpPr>
          <p:cNvPr id="5" name="Text 2"/>
          <p:cNvSpPr/>
          <p:nvPr/>
        </p:nvSpPr>
        <p:spPr>
          <a:xfrm>
            <a:off x="1537930" y="3709154"/>
            <a:ext cx="5653207"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Draft polite business emails from bullet points.</a:t>
            </a:r>
            <a:endParaRPr lang="en-US" sz="15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9144" y="3131225"/>
            <a:ext cx="496133" cy="496133"/>
          </a:xfrm>
          <a:prstGeom prst="rect">
            <a:avLst/>
          </a:prstGeom>
        </p:spPr>
      </p:pic>
      <p:sp>
        <p:nvSpPr>
          <p:cNvPr id="7" name="Text 3"/>
          <p:cNvSpPr/>
          <p:nvPr/>
        </p:nvSpPr>
        <p:spPr>
          <a:xfrm>
            <a:off x="8183285" y="3248978"/>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"Study Buddy"</a:t>
            </a:r>
            <a:endParaRPr lang="en-US" sz="2100" dirty="0"/>
          </a:p>
        </p:txBody>
      </p:sp>
      <p:sp>
        <p:nvSpPr>
          <p:cNvPr id="8" name="Text 4"/>
          <p:cNvSpPr/>
          <p:nvPr/>
        </p:nvSpPr>
        <p:spPr>
          <a:xfrm>
            <a:off x="8183285" y="3709154"/>
            <a:ext cx="5653326"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Explain textbook pages in simple words and quiz you.</a:t>
            </a:r>
            <a:endParaRPr lang="en-US" sz="15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4423529"/>
            <a:ext cx="496133" cy="496133"/>
          </a:xfrm>
          <a:prstGeom prst="rect">
            <a:avLst/>
          </a:prstGeom>
        </p:spPr>
      </p:pic>
      <p:sp>
        <p:nvSpPr>
          <p:cNvPr id="10" name="Text 5"/>
          <p:cNvSpPr/>
          <p:nvPr/>
        </p:nvSpPr>
        <p:spPr>
          <a:xfrm>
            <a:off x="1537930" y="4541282"/>
            <a:ext cx="2768441"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"Meeting Note Helper"</a:t>
            </a:r>
            <a:endParaRPr lang="en-US" sz="2100" dirty="0"/>
          </a:p>
        </p:txBody>
      </p:sp>
      <p:sp>
        <p:nvSpPr>
          <p:cNvPr id="11" name="Text 6"/>
          <p:cNvSpPr/>
          <p:nvPr/>
        </p:nvSpPr>
        <p:spPr>
          <a:xfrm>
            <a:off x="1537930" y="5001458"/>
            <a:ext cx="5653207"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Turn rough notes into structured meeting minutes.</a:t>
            </a:r>
            <a:endParaRPr lang="en-US" sz="15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9144" y="4423529"/>
            <a:ext cx="496133" cy="496133"/>
          </a:xfrm>
          <a:prstGeom prst="rect">
            <a:avLst/>
          </a:prstGeom>
        </p:spPr>
      </p:pic>
      <p:sp>
        <p:nvSpPr>
          <p:cNvPr id="13" name="Text 7"/>
          <p:cNvSpPr/>
          <p:nvPr/>
        </p:nvSpPr>
        <p:spPr>
          <a:xfrm>
            <a:off x="8183285" y="4541282"/>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"Idea Generator"</a:t>
            </a:r>
            <a:endParaRPr lang="en-US" sz="2100" dirty="0"/>
          </a:p>
        </p:txBody>
      </p:sp>
      <p:sp>
        <p:nvSpPr>
          <p:cNvPr id="14" name="Text 8"/>
          <p:cNvSpPr/>
          <p:nvPr/>
        </p:nvSpPr>
        <p:spPr>
          <a:xfrm>
            <a:off x="8183285" y="5001458"/>
            <a:ext cx="5653326"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Brainstorm headlines, content ideas, or product names.</a:t>
            </a:r>
            <a:endParaRPr lang="en-US" sz="1550" dirty="0"/>
          </a:p>
        </p:txBody>
      </p:sp>
      <p:sp>
        <p:nvSpPr>
          <p:cNvPr id="15" name="Text 9"/>
          <p:cNvSpPr/>
          <p:nvPr/>
        </p:nvSpPr>
        <p:spPr>
          <a:xfrm>
            <a:off x="793790" y="5542240"/>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Encourage users to start with one or two presets that match their everyday work or study. Emphasize that they can always open the preset and tweak it instead of making new ones from scratch.</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1823918"/>
            <a:ext cx="6893362"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Uploading Files and Images</a:t>
            </a:r>
            <a:endParaRPr lang="en-US" sz="4250" dirty="0"/>
          </a:p>
        </p:txBody>
      </p:sp>
      <p:pic>
        <p:nvPicPr>
          <p:cNvPr id="3" name="Image 0" descr="preencoded.png">    </p:cNvPr>
          <p:cNvPicPr>
            <a:picLocks noChangeAspect="1"/>
          </p:cNvPicPr>
          <p:nvPr/>
        </p:nvPicPr>
        <p:blipFill>
          <a:blip r:embed="rId1"/>
          <a:stretch>
            <a:fillRect/>
          </a:stretch>
        </p:blipFill>
        <p:spPr>
          <a:xfrm>
            <a:off x="793790" y="3027045"/>
            <a:ext cx="2286000" cy="2286000"/>
          </a:xfrm>
          <a:prstGeom prst="rect">
            <a:avLst/>
          </a:prstGeom>
        </p:spPr>
      </p:pic>
      <p:sp>
        <p:nvSpPr>
          <p:cNvPr id="4" name="Text 1"/>
          <p:cNvSpPr/>
          <p:nvPr/>
        </p:nvSpPr>
        <p:spPr>
          <a:xfrm>
            <a:off x="6212086" y="2982397"/>
            <a:ext cx="763202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LibreChat often allows you to attach files such as PDFs, Word documents, or images.</a:t>
            </a:r>
            <a:endParaRPr lang="en-US" sz="1550" dirty="0"/>
          </a:p>
        </p:txBody>
      </p:sp>
      <p:sp>
        <p:nvSpPr>
          <p:cNvPr id="5" name="Text 2"/>
          <p:cNvSpPr/>
          <p:nvPr/>
        </p:nvSpPr>
        <p:spPr>
          <a:xfrm>
            <a:off x="6212086" y="3686889"/>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You usually drag and drop files into the chat or use an "Upload" button.</a:t>
            </a:r>
            <a:endParaRPr lang="en-US" sz="1550" dirty="0"/>
          </a:p>
        </p:txBody>
      </p:sp>
      <p:sp>
        <p:nvSpPr>
          <p:cNvPr id="6" name="Text 3"/>
          <p:cNvSpPr/>
          <p:nvPr/>
        </p:nvSpPr>
        <p:spPr>
          <a:xfrm>
            <a:off x="6212086" y="4073843"/>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The AI can then summarize, explain, or extract information from the file.</a:t>
            </a:r>
            <a:endParaRPr lang="en-US" sz="1550" dirty="0"/>
          </a:p>
        </p:txBody>
      </p:sp>
      <p:sp>
        <p:nvSpPr>
          <p:cNvPr id="7" name="Text 4"/>
          <p:cNvSpPr/>
          <p:nvPr/>
        </p:nvSpPr>
        <p:spPr>
          <a:xfrm>
            <a:off x="6212086" y="4460796"/>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Image support can include describing pictures or analyzing diagrams.</a:t>
            </a:r>
            <a:endParaRPr lang="en-US" sz="1550" dirty="0"/>
          </a:p>
        </p:txBody>
      </p:sp>
      <p:sp>
        <p:nvSpPr>
          <p:cNvPr id="8" name="Text 5"/>
          <p:cNvSpPr/>
          <p:nvPr/>
        </p:nvSpPr>
        <p:spPr>
          <a:xfrm>
            <a:off x="6212086" y="4956929"/>
            <a:ext cx="7632025" cy="127015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Clarify that the exact file types supported depend on how the system is configured. Suggest simple starter tasks like "Summarize this PDF in 5 bullet points." Emphasize that large or sensitive files should follow your organization's data rules.</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770817"/>
            <a:ext cx="7817763"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Chatting With Your Documents</a:t>
            </a:r>
            <a:endParaRPr lang="en-US" sz="4250" dirty="0"/>
          </a:p>
        </p:txBody>
      </p:sp>
      <p:sp>
        <p:nvSpPr>
          <p:cNvPr id="3" name="Shape 1"/>
          <p:cNvSpPr/>
          <p:nvPr/>
        </p:nvSpPr>
        <p:spPr>
          <a:xfrm>
            <a:off x="793790" y="2849880"/>
            <a:ext cx="6422231" cy="1276112"/>
          </a:xfrm>
          <a:prstGeom prst="roundRect">
            <a:avLst>
              <a:gd name="adj" fmla="val 6532"/>
            </a:avLst>
          </a:prstGeom>
          <a:solidFill>
            <a:srgbClr val="FDFAF7"/>
          </a:solidFill>
          <a:ln w="22860">
            <a:solidFill>
              <a:srgbClr val="C6BDDA"/>
            </a:solidFill>
            <a:prstDash val="solid"/>
          </a:ln>
        </p:spPr>
      </p:sp>
      <p:pic>
        <p:nvPicPr>
          <p:cNvPr id="4" name="Image 0" descr="preencoded.png">    </p:cNvPr>
          <p:cNvPicPr>
            <a:picLocks noChangeAspect="1"/>
          </p:cNvPicPr>
          <p:nvPr/>
        </p:nvPicPr>
        <p:blipFill>
          <a:blip r:embed="rId1"/>
          <a:stretch>
            <a:fillRect/>
          </a:stretch>
        </p:blipFill>
        <p:spPr>
          <a:xfrm>
            <a:off x="697587" y="2753678"/>
            <a:ext cx="238125" cy="238125"/>
          </a:xfrm>
          <a:prstGeom prst="rect">
            <a:avLst/>
          </a:prstGeom>
        </p:spPr>
      </p:pic>
      <p:pic>
        <p:nvPicPr>
          <p:cNvPr id="5" name="Image 1" descr="preencoded.png">    </p:cNvPr>
          <p:cNvPicPr>
            <a:picLocks noChangeAspect="1"/>
          </p:cNvPicPr>
          <p:nvPr/>
        </p:nvPicPr>
        <p:blipFill>
          <a:blip r:embed="rId2"/>
          <a:stretch>
            <a:fillRect/>
          </a:stretch>
        </p:blipFill>
        <p:spPr>
          <a:xfrm>
            <a:off x="7074098" y="3984069"/>
            <a:ext cx="238125" cy="238125"/>
          </a:xfrm>
          <a:prstGeom prst="rect">
            <a:avLst/>
          </a:prstGeom>
        </p:spPr>
      </p:pic>
      <p:sp>
        <p:nvSpPr>
          <p:cNvPr id="6" name="Text 2"/>
          <p:cNvSpPr/>
          <p:nvPr/>
        </p:nvSpPr>
        <p:spPr>
          <a:xfrm>
            <a:off x="1114306" y="3170396"/>
            <a:ext cx="5781199"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Ask questions like "What are the main conclusions of this report" after uploading.</a:t>
            </a:r>
            <a:endParaRPr lang="en-US" sz="1550" dirty="0"/>
          </a:p>
        </p:txBody>
      </p:sp>
      <p:sp>
        <p:nvSpPr>
          <p:cNvPr id="7" name="Shape 3"/>
          <p:cNvSpPr/>
          <p:nvPr/>
        </p:nvSpPr>
        <p:spPr>
          <a:xfrm>
            <a:off x="7414379" y="2849880"/>
            <a:ext cx="6422231" cy="1276112"/>
          </a:xfrm>
          <a:prstGeom prst="roundRect">
            <a:avLst>
              <a:gd name="adj" fmla="val 6532"/>
            </a:avLst>
          </a:prstGeom>
          <a:solidFill>
            <a:srgbClr val="FDFAF7"/>
          </a:solidFill>
          <a:ln w="22860">
            <a:solidFill>
              <a:srgbClr val="C6BDDA"/>
            </a:solidFill>
            <a:prstDash val="solid"/>
          </a:ln>
        </p:spPr>
      </p:sp>
      <p:pic>
        <p:nvPicPr>
          <p:cNvPr id="8" name="Image 2" descr="preencoded.png">    </p:cNvPr>
          <p:cNvPicPr>
            <a:picLocks noChangeAspect="1"/>
          </p:cNvPicPr>
          <p:nvPr/>
        </p:nvPicPr>
        <p:blipFill>
          <a:blip r:embed="rId3"/>
          <a:stretch>
            <a:fillRect/>
          </a:stretch>
        </p:blipFill>
        <p:spPr>
          <a:xfrm>
            <a:off x="7318177" y="2753678"/>
            <a:ext cx="238125" cy="238125"/>
          </a:xfrm>
          <a:prstGeom prst="rect">
            <a:avLst/>
          </a:prstGeom>
        </p:spPr>
      </p:pic>
      <p:pic>
        <p:nvPicPr>
          <p:cNvPr id="9" name="Image 3" descr="preencoded.png">    </p:cNvPr>
          <p:cNvPicPr>
            <a:picLocks noChangeAspect="1"/>
          </p:cNvPicPr>
          <p:nvPr/>
        </p:nvPicPr>
        <p:blipFill>
          <a:blip r:embed="rId4"/>
          <a:stretch>
            <a:fillRect/>
          </a:stretch>
        </p:blipFill>
        <p:spPr>
          <a:xfrm>
            <a:off x="13694688" y="3984069"/>
            <a:ext cx="238125" cy="238125"/>
          </a:xfrm>
          <a:prstGeom prst="rect">
            <a:avLst/>
          </a:prstGeom>
        </p:spPr>
      </p:pic>
      <p:sp>
        <p:nvSpPr>
          <p:cNvPr id="10" name="Text 4"/>
          <p:cNvSpPr/>
          <p:nvPr/>
        </p:nvSpPr>
        <p:spPr>
          <a:xfrm>
            <a:off x="7734895" y="3170396"/>
            <a:ext cx="5781199"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Request comparisons, for example "Compare section 2 and section 4 and list key differences."</a:t>
            </a:r>
            <a:endParaRPr lang="en-US" sz="1550" dirty="0"/>
          </a:p>
        </p:txBody>
      </p:sp>
      <p:sp>
        <p:nvSpPr>
          <p:cNvPr id="11" name="Shape 5"/>
          <p:cNvSpPr/>
          <p:nvPr/>
        </p:nvSpPr>
        <p:spPr>
          <a:xfrm>
            <a:off x="793790" y="4324350"/>
            <a:ext cx="6422231" cy="1276112"/>
          </a:xfrm>
          <a:prstGeom prst="roundRect">
            <a:avLst>
              <a:gd name="adj" fmla="val 6532"/>
            </a:avLst>
          </a:prstGeom>
          <a:solidFill>
            <a:srgbClr val="FDFAF7"/>
          </a:solidFill>
          <a:ln w="22860">
            <a:solidFill>
              <a:srgbClr val="C6BDDA"/>
            </a:solidFill>
            <a:prstDash val="solid"/>
          </a:ln>
        </p:spPr>
      </p:sp>
      <p:pic>
        <p:nvPicPr>
          <p:cNvPr id="12" name="Image 4" descr="preencoded.png">    </p:cNvPr>
          <p:cNvPicPr>
            <a:picLocks noChangeAspect="1"/>
          </p:cNvPicPr>
          <p:nvPr/>
        </p:nvPicPr>
        <p:blipFill>
          <a:blip r:embed="rId5"/>
          <a:stretch>
            <a:fillRect/>
          </a:stretch>
        </p:blipFill>
        <p:spPr>
          <a:xfrm>
            <a:off x="697587" y="4228148"/>
            <a:ext cx="238125" cy="238125"/>
          </a:xfrm>
          <a:prstGeom prst="rect">
            <a:avLst/>
          </a:prstGeom>
        </p:spPr>
      </p:pic>
      <p:pic>
        <p:nvPicPr>
          <p:cNvPr id="13" name="Image 5" descr="preencoded.png">    </p:cNvPr>
          <p:cNvPicPr>
            <a:picLocks noChangeAspect="1"/>
          </p:cNvPicPr>
          <p:nvPr/>
        </p:nvPicPr>
        <p:blipFill>
          <a:blip r:embed="rId6"/>
          <a:stretch>
            <a:fillRect/>
          </a:stretch>
        </p:blipFill>
        <p:spPr>
          <a:xfrm>
            <a:off x="7074098" y="5458539"/>
            <a:ext cx="238125" cy="238125"/>
          </a:xfrm>
          <a:prstGeom prst="rect">
            <a:avLst/>
          </a:prstGeom>
        </p:spPr>
      </p:pic>
      <p:sp>
        <p:nvSpPr>
          <p:cNvPr id="14" name="Text 6"/>
          <p:cNvSpPr/>
          <p:nvPr/>
        </p:nvSpPr>
        <p:spPr>
          <a:xfrm>
            <a:off x="1114306" y="4644866"/>
            <a:ext cx="5781199"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Use it to prepare presentations: "Turn this document into a slide outline."</a:t>
            </a:r>
            <a:endParaRPr lang="en-US" sz="1550" dirty="0"/>
          </a:p>
        </p:txBody>
      </p:sp>
      <p:sp>
        <p:nvSpPr>
          <p:cNvPr id="15" name="Shape 7"/>
          <p:cNvSpPr/>
          <p:nvPr/>
        </p:nvSpPr>
        <p:spPr>
          <a:xfrm>
            <a:off x="7414379" y="4324350"/>
            <a:ext cx="6422231" cy="1276112"/>
          </a:xfrm>
          <a:prstGeom prst="roundRect">
            <a:avLst>
              <a:gd name="adj" fmla="val 6532"/>
            </a:avLst>
          </a:prstGeom>
          <a:solidFill>
            <a:srgbClr val="FDFAF7"/>
          </a:solidFill>
          <a:ln w="22860">
            <a:solidFill>
              <a:srgbClr val="C6BDDA"/>
            </a:solidFill>
            <a:prstDash val="solid"/>
          </a:ln>
        </p:spPr>
      </p:sp>
      <p:pic>
        <p:nvPicPr>
          <p:cNvPr id="16" name="Image 6" descr="preencoded.png">    </p:cNvPr>
          <p:cNvPicPr>
            <a:picLocks noChangeAspect="1"/>
          </p:cNvPicPr>
          <p:nvPr/>
        </p:nvPicPr>
        <p:blipFill>
          <a:blip r:embed="rId7"/>
          <a:stretch>
            <a:fillRect/>
          </a:stretch>
        </p:blipFill>
        <p:spPr>
          <a:xfrm>
            <a:off x="7318177" y="4228148"/>
            <a:ext cx="238125" cy="238125"/>
          </a:xfrm>
          <a:prstGeom prst="rect">
            <a:avLst/>
          </a:prstGeom>
        </p:spPr>
      </p:pic>
      <p:pic>
        <p:nvPicPr>
          <p:cNvPr id="17" name="Image 7" descr="preencoded.png">    </p:cNvPr>
          <p:cNvPicPr>
            <a:picLocks noChangeAspect="1"/>
          </p:cNvPicPr>
          <p:nvPr/>
        </p:nvPicPr>
        <p:blipFill>
          <a:blip r:embed="rId8"/>
          <a:stretch>
            <a:fillRect/>
          </a:stretch>
        </p:blipFill>
        <p:spPr>
          <a:xfrm>
            <a:off x="13694688" y="5458539"/>
            <a:ext cx="238125" cy="238125"/>
          </a:xfrm>
          <a:prstGeom prst="rect">
            <a:avLst/>
          </a:prstGeom>
        </p:spPr>
      </p:pic>
      <p:sp>
        <p:nvSpPr>
          <p:cNvPr id="18" name="Text 8"/>
          <p:cNvSpPr/>
          <p:nvPr/>
        </p:nvSpPr>
        <p:spPr>
          <a:xfrm>
            <a:off x="7734895" y="4644866"/>
            <a:ext cx="5781199"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For images, ask "Explain what this chart shows in simple terms."</a:t>
            </a:r>
            <a:endParaRPr lang="en-US" sz="1550" dirty="0"/>
          </a:p>
        </p:txBody>
      </p:sp>
      <p:sp>
        <p:nvSpPr>
          <p:cNvPr id="19" name="Text 9"/>
          <p:cNvSpPr/>
          <p:nvPr/>
        </p:nvSpPr>
        <p:spPr>
          <a:xfrm>
            <a:off x="793790" y="582370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Use real world examples such as school reports, policy documents, or research papers. Make sure beginners see that they can ask very natural follow up questions, not just "summarize."</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3555444"/>
            <a:ext cx="8735020"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Sharing and Collaboration Options</a:t>
            </a:r>
            <a:endParaRPr lang="en-US" sz="42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8204" y="4541401"/>
            <a:ext cx="297656" cy="297656"/>
          </a:xfrm>
          <a:prstGeom prst="rect">
            <a:avLst/>
          </a:prstGeom>
        </p:spPr>
      </p:pic>
      <p:sp>
        <p:nvSpPr>
          <p:cNvPr id="5" name="Text 1"/>
          <p:cNvSpPr/>
          <p:nvPr/>
        </p:nvSpPr>
        <p:spPr>
          <a:xfrm>
            <a:off x="1438632" y="4535329"/>
            <a:ext cx="575250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Many setups allow you to copy links to chats or export them as files.</a:t>
            </a:r>
            <a:endParaRPr lang="en-US" sz="21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13558" y="4541401"/>
            <a:ext cx="297656" cy="297656"/>
          </a:xfrm>
          <a:prstGeom prst="rect">
            <a:avLst/>
          </a:prstGeom>
        </p:spPr>
      </p:pic>
      <p:sp>
        <p:nvSpPr>
          <p:cNvPr id="7" name="Text 2"/>
          <p:cNvSpPr/>
          <p:nvPr/>
        </p:nvSpPr>
        <p:spPr>
          <a:xfrm>
            <a:off x="8083987" y="4535329"/>
            <a:ext cx="575262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You can paste exported text into shared documents, wikis, or project tools.</a:t>
            </a:r>
            <a:endParaRPr lang="en-US" sz="21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8204" y="5620464"/>
            <a:ext cx="297656" cy="297656"/>
          </a:xfrm>
          <a:prstGeom prst="rect">
            <a:avLst/>
          </a:prstGeom>
        </p:spPr>
      </p:pic>
      <p:sp>
        <p:nvSpPr>
          <p:cNvPr id="9" name="Text 3"/>
          <p:cNvSpPr/>
          <p:nvPr/>
        </p:nvSpPr>
        <p:spPr>
          <a:xfrm>
            <a:off x="1438632" y="5614392"/>
            <a:ext cx="575250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Some organizations enable shared presets so teams can reuse the same instructions.</a:t>
            </a:r>
            <a:endParaRPr lang="en-US" sz="21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13558" y="5620464"/>
            <a:ext cx="297656" cy="297656"/>
          </a:xfrm>
          <a:prstGeom prst="rect">
            <a:avLst/>
          </a:prstGeom>
        </p:spPr>
      </p:pic>
      <p:sp>
        <p:nvSpPr>
          <p:cNvPr id="11" name="Text 4"/>
          <p:cNvSpPr/>
          <p:nvPr/>
        </p:nvSpPr>
        <p:spPr>
          <a:xfrm>
            <a:off x="8083987" y="5614392"/>
            <a:ext cx="575262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Always check internal policies before sharing data outside your team.</a:t>
            </a:r>
            <a:endParaRPr lang="en-US" sz="2100" dirty="0"/>
          </a:p>
        </p:txBody>
      </p:sp>
      <p:sp>
        <p:nvSpPr>
          <p:cNvPr id="12" name="Text 5"/>
          <p:cNvSpPr/>
          <p:nvPr/>
        </p:nvSpPr>
        <p:spPr>
          <a:xfrm>
            <a:off x="793790" y="651986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Emphasize that LibreChat is often one piece of a bigger workflow that includes tools like email, office suites, or project trackers. Show how sharing reduces duplicate work, for example sharing a preset "Client Brief Writer" among colleagues.</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743069"/>
            <a:ext cx="6807756"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Building Simple Workflows</a:t>
            </a:r>
            <a:endParaRPr lang="en-US" sz="4250" dirty="0"/>
          </a:p>
        </p:txBody>
      </p:sp>
      <p:pic>
        <p:nvPicPr>
          <p:cNvPr id="3" name="Image 0" descr="preencoded.png">    </p:cNvPr>
          <p:cNvPicPr>
            <a:picLocks noChangeAspect="1"/>
          </p:cNvPicPr>
          <p:nvPr/>
        </p:nvPicPr>
        <p:blipFill>
          <a:blip r:embed="rId1"/>
          <a:stretch>
            <a:fillRect/>
          </a:stretch>
        </p:blipFill>
        <p:spPr>
          <a:xfrm>
            <a:off x="793790" y="1822132"/>
            <a:ext cx="4347567" cy="793790"/>
          </a:xfrm>
          <a:prstGeom prst="rect">
            <a:avLst/>
          </a:prstGeom>
        </p:spPr>
      </p:pic>
      <p:sp>
        <p:nvSpPr>
          <p:cNvPr id="4" name="Text 1"/>
          <p:cNvSpPr/>
          <p:nvPr/>
        </p:nvSpPr>
        <p:spPr>
          <a:xfrm>
            <a:off x="992148" y="2814280"/>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Input</a:t>
            </a:r>
            <a:endParaRPr lang="en-US" sz="2100" dirty="0"/>
          </a:p>
        </p:txBody>
      </p:sp>
      <p:sp>
        <p:nvSpPr>
          <p:cNvPr id="5" name="Text 2"/>
          <p:cNvSpPr/>
          <p:nvPr/>
        </p:nvSpPr>
        <p:spPr>
          <a:xfrm>
            <a:off x="992148" y="3274457"/>
            <a:ext cx="3950851"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Notes, files, or raw ideas</a:t>
            </a:r>
            <a:endParaRPr lang="en-US" sz="1550" dirty="0"/>
          </a:p>
        </p:txBody>
      </p:sp>
      <p:pic>
        <p:nvPicPr>
          <p:cNvPr id="6" name="Image 1" descr="preencoded.png">    </p:cNvPr>
          <p:cNvPicPr>
            <a:picLocks noChangeAspect="1"/>
          </p:cNvPicPr>
          <p:nvPr/>
        </p:nvPicPr>
        <p:blipFill>
          <a:blip r:embed="rId2"/>
          <a:stretch>
            <a:fillRect/>
          </a:stretch>
        </p:blipFill>
        <p:spPr>
          <a:xfrm>
            <a:off x="5141357" y="1822132"/>
            <a:ext cx="4347567" cy="793790"/>
          </a:xfrm>
          <a:prstGeom prst="rect">
            <a:avLst/>
          </a:prstGeom>
        </p:spPr>
      </p:pic>
      <p:sp>
        <p:nvSpPr>
          <p:cNvPr id="7" name="Text 3"/>
          <p:cNvSpPr/>
          <p:nvPr/>
        </p:nvSpPr>
        <p:spPr>
          <a:xfrm>
            <a:off x="5339715" y="2814280"/>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LibreChat Process</a:t>
            </a:r>
            <a:endParaRPr lang="en-US" sz="2100" dirty="0"/>
          </a:p>
        </p:txBody>
      </p:sp>
      <p:sp>
        <p:nvSpPr>
          <p:cNvPr id="8" name="Text 4"/>
          <p:cNvSpPr/>
          <p:nvPr/>
        </p:nvSpPr>
        <p:spPr>
          <a:xfrm>
            <a:off x="5339715" y="3274457"/>
            <a:ext cx="3950851"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Organize and transform</a:t>
            </a:r>
            <a:endParaRPr lang="en-US" sz="1550" dirty="0"/>
          </a:p>
        </p:txBody>
      </p:sp>
      <p:pic>
        <p:nvPicPr>
          <p:cNvPr id="9" name="Image 2" descr="preencoded.png">    </p:cNvPr>
          <p:cNvPicPr>
            <a:picLocks noChangeAspect="1"/>
          </p:cNvPicPr>
          <p:nvPr/>
        </p:nvPicPr>
        <p:blipFill>
          <a:blip r:embed="rId3"/>
          <a:stretch>
            <a:fillRect/>
          </a:stretch>
        </p:blipFill>
        <p:spPr>
          <a:xfrm>
            <a:off x="9488924" y="1822132"/>
            <a:ext cx="4347567" cy="793790"/>
          </a:xfrm>
          <a:prstGeom prst="rect">
            <a:avLst/>
          </a:prstGeom>
        </p:spPr>
      </p:pic>
      <p:sp>
        <p:nvSpPr>
          <p:cNvPr id="10" name="Text 5"/>
          <p:cNvSpPr/>
          <p:nvPr/>
        </p:nvSpPr>
        <p:spPr>
          <a:xfrm>
            <a:off x="9687282" y="2814280"/>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Output</a:t>
            </a:r>
            <a:endParaRPr lang="en-US" sz="2100" dirty="0"/>
          </a:p>
        </p:txBody>
      </p:sp>
      <p:sp>
        <p:nvSpPr>
          <p:cNvPr id="11" name="Text 6"/>
          <p:cNvSpPr/>
          <p:nvPr/>
        </p:nvSpPr>
        <p:spPr>
          <a:xfrm>
            <a:off x="9687282" y="3274457"/>
            <a:ext cx="3950851"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Paste into tools or share</a:t>
            </a:r>
            <a:endParaRPr lang="en-US" sz="1550" dirty="0"/>
          </a:p>
        </p:txBody>
      </p:sp>
      <p:sp>
        <p:nvSpPr>
          <p:cNvPr id="12" name="Shape 7"/>
          <p:cNvSpPr/>
          <p:nvPr/>
        </p:nvSpPr>
        <p:spPr>
          <a:xfrm>
            <a:off x="793790" y="4112745"/>
            <a:ext cx="13042821" cy="32385"/>
          </a:xfrm>
          <a:prstGeom prst="rect">
            <a:avLst/>
          </a:prstGeom>
          <a:solidFill>
            <a:srgbClr val="272525">
              <a:alpha val="50000"/>
            </a:srgbClr>
          </a:solidFill>
          <a:ln/>
        </p:spPr>
      </p:sp>
      <p:sp>
        <p:nvSpPr>
          <p:cNvPr id="13" name="Text 8"/>
          <p:cNvSpPr/>
          <p:nvPr/>
        </p:nvSpPr>
        <p:spPr>
          <a:xfrm>
            <a:off x="793790" y="4442698"/>
            <a:ext cx="3274814" cy="409337"/>
          </a:xfrm>
          <a:prstGeom prst="rect">
            <a:avLst/>
          </a:prstGeom>
          <a:noFill/>
          <a:ln/>
        </p:spPr>
        <p:txBody>
          <a:bodyPr wrap="none" lIns="0" tIns="0" rIns="0" bIns="0" rtlCol="0" anchor="t"/>
          <a:lstStyle/>
          <a:p>
            <a:pPr algn="l" indent="0" marL="0">
              <a:lnSpc>
                <a:spcPts val="3200"/>
              </a:lnSpc>
              <a:buNone/>
            </a:pPr>
            <a:r>
              <a:rPr lang="en-US" sz="2550" b="1" dirty="0">
                <a:solidFill>
                  <a:srgbClr val="F95F88"/>
                </a:solidFill>
                <a:latin typeface="Petrona Bold" pitchFamily="34" charset="0"/>
                <a:ea typeface="Petrona Bold" pitchFamily="34" charset="-122"/>
                <a:cs typeface="Petrona Bold" pitchFamily="34" charset="-120"/>
              </a:rPr>
              <a:t>Example Workflows</a:t>
            </a:r>
            <a:endParaRPr lang="en-US" sz="2550" dirty="0"/>
          </a:p>
        </p:txBody>
      </p:sp>
      <p:sp>
        <p:nvSpPr>
          <p:cNvPr id="14" name="Text 9"/>
          <p:cNvSpPr/>
          <p:nvPr/>
        </p:nvSpPr>
        <p:spPr>
          <a:xfrm>
            <a:off x="793790" y="5149691"/>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Start with a prompt template, then feed it notes or files, and finally export the result.</a:t>
            </a:r>
            <a:endParaRPr lang="en-US" sz="1550" dirty="0"/>
          </a:p>
        </p:txBody>
      </p:sp>
      <p:sp>
        <p:nvSpPr>
          <p:cNvPr id="15" name="Text 10"/>
          <p:cNvSpPr/>
          <p:nvPr/>
        </p:nvSpPr>
        <p:spPr>
          <a:xfrm>
            <a:off x="793790" y="5536644"/>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Example: notes → LibreChat summary → paste into project management tool.</a:t>
            </a:r>
            <a:endParaRPr lang="en-US" sz="1550" dirty="0"/>
          </a:p>
        </p:txBody>
      </p:sp>
      <p:sp>
        <p:nvSpPr>
          <p:cNvPr id="16" name="Text 11"/>
          <p:cNvSpPr/>
          <p:nvPr/>
        </p:nvSpPr>
        <p:spPr>
          <a:xfrm>
            <a:off x="793790" y="5923598"/>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Example: raw ideas → LibreChat structure → paste into slide deck.</a:t>
            </a:r>
            <a:endParaRPr lang="en-US" sz="1550" dirty="0"/>
          </a:p>
        </p:txBody>
      </p:sp>
      <p:sp>
        <p:nvSpPr>
          <p:cNvPr id="17" name="Text 12"/>
          <p:cNvSpPr/>
          <p:nvPr/>
        </p:nvSpPr>
        <p:spPr>
          <a:xfrm>
            <a:off x="793790" y="6310551"/>
            <a:ext cx="13042821"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Example: long article → LibreChat summary → personal checklist of actions.</a:t>
            </a:r>
            <a:endParaRPr lang="en-US" sz="1550" dirty="0"/>
          </a:p>
        </p:txBody>
      </p:sp>
      <p:sp>
        <p:nvSpPr>
          <p:cNvPr id="18" name="Text 13"/>
          <p:cNvSpPr/>
          <p:nvPr/>
        </p:nvSpPr>
        <p:spPr>
          <a:xfrm>
            <a:off x="793790" y="685133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Encourage users to think in terms of "input, process, output." LibreChat is strongest in the "process" part, organizing and transforming information. Help them design one or two personal workflows they can start using today.</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1350050"/>
            <a:ext cx="5144810" cy="443508"/>
          </a:xfrm>
          <a:prstGeom prst="rect">
            <a:avLst/>
          </a:prstGeom>
          <a:noFill/>
          <a:ln/>
        </p:spPr>
        <p:txBody>
          <a:bodyPr wrap="none" lIns="0" tIns="0" rIns="0" bIns="0" rtlCol="0" anchor="t"/>
          <a:lstStyle/>
          <a:p>
            <a:pPr algn="l" indent="0" marL="0">
              <a:lnSpc>
                <a:spcPts val="3450"/>
              </a:lnSpc>
              <a:buNone/>
            </a:pPr>
            <a:r>
              <a:rPr lang="en-US" sz="2750" b="1" dirty="0">
                <a:solidFill>
                  <a:srgbClr val="F95F88"/>
                </a:solidFill>
                <a:latin typeface="Petrona Bold" pitchFamily="34" charset="0"/>
                <a:ea typeface="Petrona Bold" pitchFamily="34" charset="-122"/>
                <a:cs typeface="Petrona Bold" pitchFamily="34" charset="-120"/>
              </a:rPr>
              <a:t>Personalizing the Look and Feel</a:t>
            </a:r>
            <a:endParaRPr lang="en-US" sz="2750" dirty="0"/>
          </a:p>
        </p:txBody>
      </p:sp>
      <p:sp>
        <p:nvSpPr>
          <p:cNvPr id="3" name="Text 1"/>
          <p:cNvSpPr/>
          <p:nvPr/>
        </p:nvSpPr>
        <p:spPr>
          <a:xfrm>
            <a:off x="793790" y="2115979"/>
            <a:ext cx="1773793" cy="221694"/>
          </a:xfrm>
          <a:prstGeom prst="rect">
            <a:avLst/>
          </a:prstGeom>
          <a:noFill/>
          <a:ln/>
        </p:spPr>
        <p:txBody>
          <a:bodyPr wrap="none" lIns="0" tIns="0" rIns="0" bIns="0" rtlCol="0" anchor="t"/>
          <a:lstStyle/>
          <a:p>
            <a:pPr algn="l" indent="0" marL="0">
              <a:lnSpc>
                <a:spcPts val="1700"/>
              </a:lnSpc>
              <a:buNone/>
            </a:pPr>
            <a:r>
              <a:rPr lang="en-US" sz="1350" b="1" dirty="0">
                <a:solidFill>
                  <a:srgbClr val="F95F88"/>
                </a:solidFill>
                <a:latin typeface="Petrona Bold" pitchFamily="34" charset="0"/>
                <a:ea typeface="Petrona Bold" pitchFamily="34" charset="-122"/>
                <a:cs typeface="Petrona Bold" pitchFamily="34" charset="-120"/>
              </a:rPr>
              <a:t>Light Mode</a:t>
            </a:r>
            <a:endParaRPr lang="en-US" sz="1350" dirty="0"/>
          </a:p>
        </p:txBody>
      </p:sp>
      <p:pic>
        <p:nvPicPr>
          <p:cNvPr id="4" name="Image 0" descr="preencoded.png">    </p:cNvPr>
          <p:cNvPicPr>
            <a:picLocks noChangeAspect="1"/>
          </p:cNvPicPr>
          <p:nvPr/>
        </p:nvPicPr>
        <p:blipFill>
          <a:blip r:embed="rId1"/>
          <a:stretch>
            <a:fillRect/>
          </a:stretch>
        </p:blipFill>
        <p:spPr>
          <a:xfrm>
            <a:off x="793790" y="2482691"/>
            <a:ext cx="2286000" cy="2286000"/>
          </a:xfrm>
          <a:prstGeom prst="rect">
            <a:avLst/>
          </a:prstGeom>
        </p:spPr>
      </p:pic>
      <p:sp>
        <p:nvSpPr>
          <p:cNvPr id="5" name="Text 2"/>
          <p:cNvSpPr/>
          <p:nvPr/>
        </p:nvSpPr>
        <p:spPr>
          <a:xfrm>
            <a:off x="7480102" y="2115979"/>
            <a:ext cx="1773793" cy="221694"/>
          </a:xfrm>
          <a:prstGeom prst="rect">
            <a:avLst/>
          </a:prstGeom>
          <a:noFill/>
          <a:ln/>
        </p:spPr>
        <p:txBody>
          <a:bodyPr wrap="none" lIns="0" tIns="0" rIns="0" bIns="0" rtlCol="0" anchor="t"/>
          <a:lstStyle/>
          <a:p>
            <a:pPr algn="l" indent="0" marL="0">
              <a:lnSpc>
                <a:spcPts val="1700"/>
              </a:lnSpc>
              <a:buNone/>
            </a:pPr>
            <a:r>
              <a:rPr lang="en-US" sz="1350" b="1" dirty="0">
                <a:solidFill>
                  <a:srgbClr val="F95F88"/>
                </a:solidFill>
                <a:latin typeface="Petrona Bold" pitchFamily="34" charset="0"/>
                <a:ea typeface="Petrona Bold" pitchFamily="34" charset="-122"/>
                <a:cs typeface="Petrona Bold" pitchFamily="34" charset="-120"/>
              </a:rPr>
              <a:t>Dark Mode</a:t>
            </a:r>
            <a:endParaRPr lang="en-US" sz="1350" dirty="0"/>
          </a:p>
        </p:txBody>
      </p:sp>
      <p:pic>
        <p:nvPicPr>
          <p:cNvPr id="6" name="Image 1" descr="preencoded.png">    </p:cNvPr>
          <p:cNvPicPr>
            <a:picLocks noChangeAspect="1"/>
          </p:cNvPicPr>
          <p:nvPr/>
        </p:nvPicPr>
        <p:blipFill>
          <a:blip r:embed="rId2"/>
          <a:stretch>
            <a:fillRect/>
          </a:stretch>
        </p:blipFill>
        <p:spPr>
          <a:xfrm>
            <a:off x="7480102" y="2482691"/>
            <a:ext cx="2286000" cy="2286000"/>
          </a:xfrm>
          <a:prstGeom prst="rect">
            <a:avLst/>
          </a:prstGeom>
        </p:spPr>
      </p:pic>
      <p:sp>
        <p:nvSpPr>
          <p:cNvPr id="7" name="Text 3"/>
          <p:cNvSpPr/>
          <p:nvPr/>
        </p:nvSpPr>
        <p:spPr>
          <a:xfrm>
            <a:off x="793790" y="5107186"/>
            <a:ext cx="2255758" cy="266105"/>
          </a:xfrm>
          <a:prstGeom prst="rect">
            <a:avLst/>
          </a:prstGeom>
          <a:noFill/>
          <a:ln/>
        </p:spPr>
        <p:txBody>
          <a:bodyPr wrap="none" lIns="0" tIns="0" rIns="0" bIns="0" rtlCol="0" anchor="t"/>
          <a:lstStyle/>
          <a:p>
            <a:pPr algn="l" indent="0" marL="0">
              <a:lnSpc>
                <a:spcPts val="2050"/>
              </a:lnSpc>
              <a:buNone/>
            </a:pPr>
            <a:r>
              <a:rPr lang="en-US" sz="1650" b="1" dirty="0">
                <a:solidFill>
                  <a:srgbClr val="F95F88"/>
                </a:solidFill>
                <a:latin typeface="Petrona Bold" pitchFamily="34" charset="0"/>
                <a:ea typeface="Petrona Bold" pitchFamily="34" charset="-122"/>
                <a:cs typeface="Petrona Bold" pitchFamily="34" charset="-120"/>
              </a:rPr>
              <a:t>Customization Options</a:t>
            </a:r>
            <a:endParaRPr lang="en-US" sz="1650" dirty="0"/>
          </a:p>
        </p:txBody>
      </p:sp>
      <p:sp>
        <p:nvSpPr>
          <p:cNvPr id="8" name="Text 4"/>
          <p:cNvSpPr/>
          <p:nvPr/>
        </p:nvSpPr>
        <p:spPr>
          <a:xfrm>
            <a:off x="793790" y="5566767"/>
            <a:ext cx="13042821"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272525"/>
                </a:solidFill>
                <a:latin typeface="Inter" pitchFamily="34" charset="0"/>
                <a:ea typeface="Inter" pitchFamily="34" charset="-122"/>
                <a:cs typeface="Inter" pitchFamily="34" charset="-120"/>
              </a:rPr>
              <a:t>Switch between light and dark themes for comfortable reading.</a:t>
            </a:r>
            <a:endParaRPr lang="en-US" sz="1000" dirty="0"/>
          </a:p>
        </p:txBody>
      </p:sp>
      <p:sp>
        <p:nvSpPr>
          <p:cNvPr id="9" name="Text 5"/>
          <p:cNvSpPr/>
          <p:nvPr/>
        </p:nvSpPr>
        <p:spPr>
          <a:xfrm>
            <a:off x="793790" y="5818346"/>
            <a:ext cx="13042821"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272525"/>
                </a:solidFill>
                <a:latin typeface="Inter" pitchFamily="34" charset="0"/>
                <a:ea typeface="Inter" pitchFamily="34" charset="-122"/>
                <a:cs typeface="Inter" pitchFamily="34" charset="-120"/>
              </a:rPr>
              <a:t>Choose language preferences if your LibreChat instance supports multiple languages.</a:t>
            </a:r>
            <a:endParaRPr lang="en-US" sz="1000" dirty="0"/>
          </a:p>
        </p:txBody>
      </p:sp>
      <p:sp>
        <p:nvSpPr>
          <p:cNvPr id="10" name="Text 6"/>
          <p:cNvSpPr/>
          <p:nvPr/>
        </p:nvSpPr>
        <p:spPr>
          <a:xfrm>
            <a:off x="793790" y="6069925"/>
            <a:ext cx="13042821"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272525"/>
                </a:solidFill>
                <a:latin typeface="Inter" pitchFamily="34" charset="0"/>
                <a:ea typeface="Inter" pitchFamily="34" charset="-122"/>
                <a:cs typeface="Inter" pitchFamily="34" charset="-120"/>
              </a:rPr>
              <a:t>Adjust font size or compact mode if available for easier reading on your screen.</a:t>
            </a:r>
            <a:endParaRPr lang="en-US" sz="1000" dirty="0"/>
          </a:p>
        </p:txBody>
      </p:sp>
      <p:sp>
        <p:nvSpPr>
          <p:cNvPr id="11" name="Text 7"/>
          <p:cNvSpPr/>
          <p:nvPr/>
        </p:nvSpPr>
        <p:spPr>
          <a:xfrm>
            <a:off x="793790" y="6321504"/>
            <a:ext cx="13042821" cy="206454"/>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272525"/>
                </a:solidFill>
                <a:latin typeface="Inter" pitchFamily="34" charset="0"/>
                <a:ea typeface="Inter" pitchFamily="34" charset="-122"/>
                <a:cs typeface="Inter" pitchFamily="34" charset="-120"/>
              </a:rPr>
              <a:t>Small visual changes can make long sessions more pleasant.</a:t>
            </a:r>
            <a:endParaRPr lang="en-US" sz="1000" dirty="0"/>
          </a:p>
        </p:txBody>
      </p:sp>
      <p:sp>
        <p:nvSpPr>
          <p:cNvPr id="12" name="Text 8"/>
          <p:cNvSpPr/>
          <p:nvPr/>
        </p:nvSpPr>
        <p:spPr>
          <a:xfrm>
            <a:off x="793790" y="6672977"/>
            <a:ext cx="13042821" cy="206454"/>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Demonstrate theme switching live if possible. Remind users that comfort matters, especially for long research or writing sessions. Mention that these settings usually affect only their account, not everyone.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847130"/>
            <a:ext cx="9131141"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Default Model and Behavior Settings</a:t>
            </a:r>
            <a:endParaRPr lang="en-US" sz="4250" dirty="0"/>
          </a:p>
        </p:txBody>
      </p:sp>
      <p:sp>
        <p:nvSpPr>
          <p:cNvPr id="3" name="Shape 1"/>
          <p:cNvSpPr/>
          <p:nvPr/>
        </p:nvSpPr>
        <p:spPr>
          <a:xfrm>
            <a:off x="793790" y="1926193"/>
            <a:ext cx="13042821" cy="1220153"/>
          </a:xfrm>
          <a:prstGeom prst="roundRect">
            <a:avLst>
              <a:gd name="adj" fmla="val 6832"/>
            </a:avLst>
          </a:prstGeom>
          <a:solidFill>
            <a:srgbClr val="FDFAF7"/>
          </a:solidFill>
          <a:ln w="22860">
            <a:solidFill>
              <a:srgbClr val="C6BDDA"/>
            </a:solidFill>
            <a:prstDash val="solid"/>
          </a:ln>
        </p:spPr>
      </p:sp>
      <p:sp>
        <p:nvSpPr>
          <p:cNvPr id="4" name="Shape 2"/>
          <p:cNvSpPr/>
          <p:nvPr/>
        </p:nvSpPr>
        <p:spPr>
          <a:xfrm>
            <a:off x="816650" y="1949053"/>
            <a:ext cx="793790" cy="1174433"/>
          </a:xfrm>
          <a:prstGeom prst="roundRect">
            <a:avLst>
              <a:gd name="adj" fmla="val 7046"/>
            </a:avLst>
          </a:prstGeom>
          <a:solidFill>
            <a:srgbClr val="E0D7F4"/>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60847" y="2387322"/>
            <a:ext cx="297656" cy="297656"/>
          </a:xfrm>
          <a:prstGeom prst="rect">
            <a:avLst/>
          </a:prstGeom>
        </p:spPr>
      </p:pic>
      <p:sp>
        <p:nvSpPr>
          <p:cNvPr id="6" name="Text 3"/>
          <p:cNvSpPr/>
          <p:nvPr/>
        </p:nvSpPr>
        <p:spPr>
          <a:xfrm>
            <a:off x="1808798" y="2147411"/>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Default Model</a:t>
            </a:r>
            <a:endParaRPr lang="en-US" sz="2100" dirty="0"/>
          </a:p>
        </p:txBody>
      </p:sp>
      <p:sp>
        <p:nvSpPr>
          <p:cNvPr id="7" name="Text 4"/>
          <p:cNvSpPr/>
          <p:nvPr/>
        </p:nvSpPr>
        <p:spPr>
          <a:xfrm>
            <a:off x="1808798" y="2607588"/>
            <a:ext cx="11806595"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You can often set a default model so new chats always start with your preferred choice.</a:t>
            </a:r>
            <a:endParaRPr lang="en-US" sz="1550" dirty="0"/>
          </a:p>
        </p:txBody>
      </p:sp>
      <p:sp>
        <p:nvSpPr>
          <p:cNvPr id="8" name="Shape 5"/>
          <p:cNvSpPr/>
          <p:nvPr/>
        </p:nvSpPr>
        <p:spPr>
          <a:xfrm>
            <a:off x="793790" y="3344704"/>
            <a:ext cx="13042821" cy="1220153"/>
          </a:xfrm>
          <a:prstGeom prst="roundRect">
            <a:avLst>
              <a:gd name="adj" fmla="val 6832"/>
            </a:avLst>
          </a:prstGeom>
          <a:solidFill>
            <a:srgbClr val="FDFAF7"/>
          </a:solidFill>
          <a:ln w="22860">
            <a:solidFill>
              <a:srgbClr val="C6BDDA"/>
            </a:solidFill>
            <a:prstDash val="solid"/>
          </a:ln>
        </p:spPr>
      </p:sp>
      <p:sp>
        <p:nvSpPr>
          <p:cNvPr id="9" name="Shape 6"/>
          <p:cNvSpPr/>
          <p:nvPr/>
        </p:nvSpPr>
        <p:spPr>
          <a:xfrm>
            <a:off x="816650" y="3367564"/>
            <a:ext cx="793790" cy="1174433"/>
          </a:xfrm>
          <a:prstGeom prst="roundRect">
            <a:avLst>
              <a:gd name="adj" fmla="val 7046"/>
            </a:avLst>
          </a:prstGeom>
          <a:solidFill>
            <a:srgbClr val="E0D7F4"/>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0847" y="3805833"/>
            <a:ext cx="297656" cy="297656"/>
          </a:xfrm>
          <a:prstGeom prst="rect">
            <a:avLst/>
          </a:prstGeom>
        </p:spPr>
      </p:pic>
      <p:sp>
        <p:nvSpPr>
          <p:cNvPr id="11" name="Text 7"/>
          <p:cNvSpPr/>
          <p:nvPr/>
        </p:nvSpPr>
        <p:spPr>
          <a:xfrm>
            <a:off x="1808798" y="3565922"/>
            <a:ext cx="2963942"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Conversation Retention</a:t>
            </a:r>
            <a:endParaRPr lang="en-US" sz="2100" dirty="0"/>
          </a:p>
        </p:txBody>
      </p:sp>
      <p:sp>
        <p:nvSpPr>
          <p:cNvPr id="12" name="Text 8"/>
          <p:cNvSpPr/>
          <p:nvPr/>
        </p:nvSpPr>
        <p:spPr>
          <a:xfrm>
            <a:off x="1808798" y="4026098"/>
            <a:ext cx="11806595"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Some instances let you control how long conversations are kept or when they expire.</a:t>
            </a:r>
            <a:endParaRPr lang="en-US" sz="1550" dirty="0"/>
          </a:p>
        </p:txBody>
      </p:sp>
      <p:sp>
        <p:nvSpPr>
          <p:cNvPr id="13" name="Shape 9"/>
          <p:cNvSpPr/>
          <p:nvPr/>
        </p:nvSpPr>
        <p:spPr>
          <a:xfrm>
            <a:off x="793790" y="4763214"/>
            <a:ext cx="13042821" cy="1220153"/>
          </a:xfrm>
          <a:prstGeom prst="roundRect">
            <a:avLst>
              <a:gd name="adj" fmla="val 6832"/>
            </a:avLst>
          </a:prstGeom>
          <a:solidFill>
            <a:srgbClr val="FDFAF7"/>
          </a:solidFill>
          <a:ln w="22860">
            <a:solidFill>
              <a:srgbClr val="C6BDDA"/>
            </a:solidFill>
            <a:prstDash val="solid"/>
          </a:ln>
        </p:spPr>
      </p:sp>
      <p:sp>
        <p:nvSpPr>
          <p:cNvPr id="14" name="Shape 10"/>
          <p:cNvSpPr/>
          <p:nvPr/>
        </p:nvSpPr>
        <p:spPr>
          <a:xfrm>
            <a:off x="816650" y="4786074"/>
            <a:ext cx="793790" cy="1174433"/>
          </a:xfrm>
          <a:prstGeom prst="roundRect">
            <a:avLst>
              <a:gd name="adj" fmla="val 7046"/>
            </a:avLst>
          </a:prstGeom>
          <a:solidFill>
            <a:srgbClr val="E0D7F4"/>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0847" y="5224343"/>
            <a:ext cx="297656" cy="297656"/>
          </a:xfrm>
          <a:prstGeom prst="rect">
            <a:avLst/>
          </a:prstGeom>
        </p:spPr>
      </p:pic>
      <p:sp>
        <p:nvSpPr>
          <p:cNvPr id="16" name="Text 11"/>
          <p:cNvSpPr/>
          <p:nvPr/>
        </p:nvSpPr>
        <p:spPr>
          <a:xfrm>
            <a:off x="1808798" y="4984432"/>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Safety Settings</a:t>
            </a:r>
            <a:endParaRPr lang="en-US" sz="2100" dirty="0"/>
          </a:p>
        </p:txBody>
      </p:sp>
      <p:sp>
        <p:nvSpPr>
          <p:cNvPr id="17" name="Text 12"/>
          <p:cNvSpPr/>
          <p:nvPr/>
        </p:nvSpPr>
        <p:spPr>
          <a:xfrm>
            <a:off x="1808798" y="5444609"/>
            <a:ext cx="11806595"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Safety related settings may limit what the AI can answer, to follow company rules.</a:t>
            </a:r>
            <a:endParaRPr lang="en-US" sz="1550" dirty="0"/>
          </a:p>
        </p:txBody>
      </p:sp>
      <p:sp>
        <p:nvSpPr>
          <p:cNvPr id="18" name="Text 13"/>
          <p:cNvSpPr/>
          <p:nvPr/>
        </p:nvSpPr>
        <p:spPr>
          <a:xfrm>
            <a:off x="793790" y="6206609"/>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For beginners, sticking to recommended defaults is usually best.</a:t>
            </a:r>
            <a:endParaRPr lang="en-US" sz="1550" dirty="0"/>
          </a:p>
        </p:txBody>
      </p:sp>
      <p:sp>
        <p:nvSpPr>
          <p:cNvPr id="19" name="Text 14"/>
          <p:cNvSpPr/>
          <p:nvPr/>
        </p:nvSpPr>
        <p:spPr>
          <a:xfrm>
            <a:off x="793790" y="674739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Explain that these settings are a way to "tune" the assistant to your habits, but that many are set by administrators to protect privacy and safety. Encourage them to ask an admin before changing anything they do not understand.</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1823918"/>
            <a:ext cx="8341638"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Account and Access Management</a:t>
            </a:r>
            <a:endParaRPr lang="en-US" sz="4250" dirty="0"/>
          </a:p>
        </p:txBody>
      </p:sp>
      <p:sp>
        <p:nvSpPr>
          <p:cNvPr id="3" name="Text 1"/>
          <p:cNvSpPr/>
          <p:nvPr/>
        </p:nvSpPr>
        <p:spPr>
          <a:xfrm>
            <a:off x="793790" y="2982397"/>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Your LibreChat account may be tied to your work or school login.</a:t>
            </a:r>
            <a:endParaRPr lang="en-US" sz="1550" dirty="0"/>
          </a:p>
        </p:txBody>
      </p:sp>
      <p:sp>
        <p:nvSpPr>
          <p:cNvPr id="4" name="Text 2"/>
          <p:cNvSpPr/>
          <p:nvPr/>
        </p:nvSpPr>
        <p:spPr>
          <a:xfrm>
            <a:off x="793790" y="3369350"/>
            <a:ext cx="763202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Use profile or account menus to log out when using shared devices.</a:t>
            </a:r>
            <a:endParaRPr lang="en-US" sz="1550" dirty="0"/>
          </a:p>
        </p:txBody>
      </p:sp>
      <p:sp>
        <p:nvSpPr>
          <p:cNvPr id="5" name="Text 3"/>
          <p:cNvSpPr/>
          <p:nvPr/>
        </p:nvSpPr>
        <p:spPr>
          <a:xfrm>
            <a:off x="793790" y="3756303"/>
            <a:ext cx="763202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Some setups allow changing your password or connecting single sign on providers.</a:t>
            </a:r>
            <a:endParaRPr lang="en-US" sz="1550" dirty="0"/>
          </a:p>
        </p:txBody>
      </p:sp>
      <p:sp>
        <p:nvSpPr>
          <p:cNvPr id="6" name="Text 4"/>
          <p:cNvSpPr/>
          <p:nvPr/>
        </p:nvSpPr>
        <p:spPr>
          <a:xfrm>
            <a:off x="793790" y="4460796"/>
            <a:ext cx="7632025"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If you lose access, contact your internal support or admin rather than trying to fix it alone.</a:t>
            </a:r>
            <a:endParaRPr lang="en-US" sz="1550" dirty="0"/>
          </a:p>
        </p:txBody>
      </p:sp>
      <p:sp>
        <p:nvSpPr>
          <p:cNvPr id="7" name="Text 5"/>
          <p:cNvSpPr/>
          <p:nvPr/>
        </p:nvSpPr>
        <p:spPr>
          <a:xfrm>
            <a:off x="793790" y="5274469"/>
            <a:ext cx="7632025"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Emphasize security basics, especially logging out on shared computers. Clarify that access changes are often a policy issue, not something you can fix in settings.</a:t>
            </a:r>
            <a:endParaRPr lang="en-US" sz="1550" dirty="0"/>
          </a:p>
        </p:txBody>
      </p:sp>
      <p:pic>
        <p:nvPicPr>
          <p:cNvPr id="8" name="Image 0" descr="preencoded.png">    </p:cNvPr>
          <p:cNvPicPr>
            <a:picLocks noChangeAspect="1"/>
          </p:cNvPicPr>
          <p:nvPr/>
        </p:nvPicPr>
        <p:blipFill>
          <a:blip r:embed="rId1"/>
          <a:stretch>
            <a:fillRect/>
          </a:stretch>
        </p:blipFill>
        <p:spPr>
          <a:xfrm>
            <a:off x="8917543" y="3027045"/>
            <a:ext cx="2286000" cy="2286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1616869"/>
            <a:ext cx="5727382"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Getting Better Answers</a:t>
            </a:r>
            <a:endParaRPr lang="en-US" sz="4250" dirty="0"/>
          </a:p>
        </p:txBody>
      </p:sp>
      <p:sp>
        <p:nvSpPr>
          <p:cNvPr id="3" name="Shape 1"/>
          <p:cNvSpPr/>
          <p:nvPr/>
        </p:nvSpPr>
        <p:spPr>
          <a:xfrm>
            <a:off x="793790" y="2695932"/>
            <a:ext cx="13042821" cy="2502575"/>
          </a:xfrm>
          <a:prstGeom prst="roundRect">
            <a:avLst>
              <a:gd name="adj" fmla="val 3331"/>
            </a:avLst>
          </a:prstGeom>
          <a:solidFill>
            <a:srgbClr val="D0C3EE"/>
          </a:solidFill>
          <a:ln/>
        </p:spPr>
      </p:sp>
      <p:pic>
        <p:nvPicPr>
          <p:cNvPr id="4" name="Image 0" descr="preencoded.png">    </p:cNvPr>
          <p:cNvPicPr>
            <a:picLocks noChangeAspect="1"/>
          </p:cNvPicPr>
          <p:nvPr/>
        </p:nvPicPr>
        <p:blipFill>
          <a:blip r:embed="rId1"/>
          <a:stretch>
            <a:fillRect/>
          </a:stretch>
        </p:blipFill>
        <p:spPr>
          <a:xfrm>
            <a:off x="992148" y="2954417"/>
            <a:ext cx="409337" cy="327422"/>
          </a:xfrm>
          <a:prstGeom prst="rect">
            <a:avLst/>
          </a:prstGeom>
        </p:spPr>
      </p:pic>
      <p:sp>
        <p:nvSpPr>
          <p:cNvPr id="5" name="Text 2"/>
          <p:cNvSpPr/>
          <p:nvPr/>
        </p:nvSpPr>
        <p:spPr>
          <a:xfrm>
            <a:off x="1599843" y="2943820"/>
            <a:ext cx="3764399" cy="409337"/>
          </a:xfrm>
          <a:prstGeom prst="rect">
            <a:avLst/>
          </a:prstGeom>
          <a:noFill/>
          <a:ln/>
        </p:spPr>
        <p:txBody>
          <a:bodyPr wrap="none" lIns="0" tIns="0" rIns="0" bIns="0" rtlCol="0" anchor="t"/>
          <a:lstStyle/>
          <a:p>
            <a:pPr algn="l" indent="0" marL="0">
              <a:lnSpc>
                <a:spcPts val="3200"/>
              </a:lnSpc>
              <a:buNone/>
            </a:pPr>
            <a:r>
              <a:rPr lang="en-US" sz="2550" b="1" dirty="0">
                <a:solidFill>
                  <a:srgbClr val="000000"/>
                </a:solidFill>
                <a:latin typeface="Petrona Bold" pitchFamily="34" charset="0"/>
                <a:ea typeface="Petrona Bold" pitchFamily="34" charset="-122"/>
                <a:cs typeface="Petrona Bold" pitchFamily="34" charset="-120"/>
              </a:rPr>
              <a:t>Better Prompts Checklist</a:t>
            </a:r>
            <a:endParaRPr lang="en-US" sz="2550" dirty="0"/>
          </a:p>
        </p:txBody>
      </p:sp>
      <p:sp>
        <p:nvSpPr>
          <p:cNvPr id="6" name="Text 3"/>
          <p:cNvSpPr/>
          <p:nvPr/>
        </p:nvSpPr>
        <p:spPr>
          <a:xfrm>
            <a:off x="1599843" y="3551515"/>
            <a:ext cx="12038409"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Inter" pitchFamily="34" charset="0"/>
                <a:ea typeface="Inter" pitchFamily="34" charset="-122"/>
                <a:cs typeface="Inter" pitchFamily="34" charset="-120"/>
              </a:rPr>
              <a:t>Be specific about the outcome you want, not just the topic.</a:t>
            </a:r>
            <a:endParaRPr lang="en-US" sz="1550" dirty="0"/>
          </a:p>
        </p:txBody>
      </p:sp>
      <p:sp>
        <p:nvSpPr>
          <p:cNvPr id="7" name="Text 4"/>
          <p:cNvSpPr/>
          <p:nvPr/>
        </p:nvSpPr>
        <p:spPr>
          <a:xfrm>
            <a:off x="1599843" y="3938468"/>
            <a:ext cx="12038409"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Inter" pitchFamily="34" charset="0"/>
                <a:ea typeface="Inter" pitchFamily="34" charset="-122"/>
                <a:cs typeface="Inter" pitchFamily="34" charset="-120"/>
              </a:rPr>
              <a:t>Provide context, such as audience, length, and tone.</a:t>
            </a:r>
            <a:endParaRPr lang="en-US" sz="1550" dirty="0"/>
          </a:p>
        </p:txBody>
      </p:sp>
      <p:sp>
        <p:nvSpPr>
          <p:cNvPr id="8" name="Text 5"/>
          <p:cNvSpPr/>
          <p:nvPr/>
        </p:nvSpPr>
        <p:spPr>
          <a:xfrm>
            <a:off x="1599843" y="4325422"/>
            <a:ext cx="12038409"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Inter" pitchFamily="34" charset="0"/>
                <a:ea typeface="Inter" pitchFamily="34" charset="-122"/>
                <a:cs typeface="Inter" pitchFamily="34" charset="-120"/>
              </a:rPr>
              <a:t>Use follow up questions to refine, correct, and improve answers.</a:t>
            </a:r>
            <a:endParaRPr lang="en-US" sz="1550" dirty="0"/>
          </a:p>
        </p:txBody>
      </p:sp>
      <p:sp>
        <p:nvSpPr>
          <p:cNvPr id="9" name="Text 6"/>
          <p:cNvSpPr/>
          <p:nvPr/>
        </p:nvSpPr>
        <p:spPr>
          <a:xfrm>
            <a:off x="1599843" y="4712375"/>
            <a:ext cx="12038409"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000000"/>
                </a:solidFill>
                <a:latin typeface="Inter" pitchFamily="34" charset="0"/>
                <a:ea typeface="Inter" pitchFamily="34" charset="-122"/>
                <a:cs typeface="Inter" pitchFamily="34" charset="-120"/>
              </a:rPr>
              <a:t>Review results critically and cross check important facts.</a:t>
            </a:r>
            <a:endParaRPr lang="en-US" sz="1550" dirty="0"/>
          </a:p>
        </p:txBody>
      </p:sp>
      <p:sp>
        <p:nvSpPr>
          <p:cNvPr id="10" name="Text 7"/>
          <p:cNvSpPr/>
          <p:nvPr/>
        </p:nvSpPr>
        <p:spPr>
          <a:xfrm>
            <a:off x="793790" y="5421749"/>
            <a:ext cx="13042821" cy="1190863"/>
          </a:xfrm>
          <a:prstGeom prst="rect">
            <a:avLst/>
          </a:prstGeom>
          <a:noFill/>
          <a:ln/>
        </p:spPr>
        <p:txBody>
          <a:bodyPr wrap="square" lIns="0" tIns="0" rIns="0" bIns="0" rtlCol="0" anchor="t"/>
          <a:lstStyle/>
          <a:p>
            <a:pPr algn="l" indent="0" marL="0">
              <a:lnSpc>
                <a:spcPts val="3100"/>
              </a:lnSpc>
              <a:buNone/>
            </a:pPr>
            <a:r>
              <a:rPr lang="en-US" sz="1950" dirty="0">
                <a:solidFill>
                  <a:srgbClr val="272525"/>
                </a:solidFill>
                <a:latin typeface="Inter" pitchFamily="34" charset="0"/>
                <a:ea typeface="Inter" pitchFamily="34" charset="-122"/>
                <a:cs typeface="Inter" pitchFamily="34" charset="-120"/>
              </a:rPr>
              <a:t>Underline that AI is powerful but not perfect. Encourage a mindset of </a:t>
            </a:r>
            <a:pPr algn="l" indent="0" marL="0">
              <a:lnSpc>
                <a:spcPts val="3100"/>
              </a:lnSpc>
              <a:buNone/>
            </a:pPr>
            <a:r>
              <a:rPr lang="en-US" sz="1950" b="1" dirty="0">
                <a:solidFill>
                  <a:srgbClr val="28282F"/>
                </a:solidFill>
                <a:latin typeface="Inter" pitchFamily="34" charset="0"/>
                <a:ea typeface="Inter" pitchFamily="34" charset="-122"/>
                <a:cs typeface="Inter" pitchFamily="34" charset="-120"/>
              </a:rPr>
              <a:t>"assistant, not oracle."</a:t>
            </a:r>
            <a:pPr algn="l" indent="0" marL="0">
              <a:lnSpc>
                <a:spcPts val="3100"/>
              </a:lnSpc>
              <a:buNone/>
            </a:pPr>
            <a:r>
              <a:rPr lang="en-US" sz="1950" dirty="0">
                <a:solidFill>
                  <a:srgbClr val="272525"/>
                </a:solidFill>
                <a:latin typeface="Inter" pitchFamily="34" charset="0"/>
                <a:ea typeface="Inter" pitchFamily="34" charset="-122"/>
                <a:cs typeface="Inter" pitchFamily="34" charset="-120"/>
              </a:rPr>
              <a:t> Remind them to double check critical information, especially for legal, medical, or financial topics, using trusted human or official sources.</a:t>
            </a:r>
            <a:endParaRPr lang="en-US" sz="1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759143"/>
            <a:ext cx="7556421" cy="1364456"/>
          </a:xfrm>
          <a:prstGeom prst="rect">
            <a:avLst/>
          </a:prstGeom>
          <a:noFill/>
          <a:ln/>
        </p:spPr>
        <p:txBody>
          <a:bodyPr wrap="squar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Staying Safe and Handling Data Carefully</a:t>
            </a:r>
            <a:endParaRPr lang="en-US" sz="4250" dirty="0"/>
          </a:p>
        </p:txBody>
      </p:sp>
      <p:sp>
        <p:nvSpPr>
          <p:cNvPr id="4" name="Text 1"/>
          <p:cNvSpPr/>
          <p:nvPr/>
        </p:nvSpPr>
        <p:spPr>
          <a:xfrm>
            <a:off x="6280190" y="2619613"/>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Do</a:t>
            </a:r>
            <a:endParaRPr lang="en-US" sz="2100" dirty="0"/>
          </a:p>
        </p:txBody>
      </p:sp>
      <p:sp>
        <p:nvSpPr>
          <p:cNvPr id="5" name="Text 2"/>
          <p:cNvSpPr/>
          <p:nvPr/>
        </p:nvSpPr>
        <p:spPr>
          <a:xfrm>
            <a:off x="6280190" y="3159085"/>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Follow your organization's internal guidelines for AI usage</a:t>
            </a:r>
            <a:endParaRPr lang="en-US" sz="1550" dirty="0"/>
          </a:p>
        </p:txBody>
      </p:sp>
      <p:sp>
        <p:nvSpPr>
          <p:cNvPr id="6" name="Text 3"/>
          <p:cNvSpPr/>
          <p:nvPr/>
        </p:nvSpPr>
        <p:spPr>
          <a:xfrm>
            <a:off x="6280190" y="3863578"/>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Treat AI answers as drafts that you review, not final truths</a:t>
            </a:r>
            <a:endParaRPr lang="en-US" sz="1550" dirty="0"/>
          </a:p>
        </p:txBody>
      </p:sp>
      <p:sp>
        <p:nvSpPr>
          <p:cNvPr id="7" name="Text 4"/>
          <p:cNvSpPr/>
          <p:nvPr/>
        </p:nvSpPr>
        <p:spPr>
          <a:xfrm>
            <a:off x="6280190" y="4568071"/>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Ask a manager or data protection officer when in doubt</a:t>
            </a:r>
            <a:endParaRPr lang="en-US" sz="1550" dirty="0"/>
          </a:p>
        </p:txBody>
      </p:sp>
      <p:sp>
        <p:nvSpPr>
          <p:cNvPr id="8" name="Text 5"/>
          <p:cNvSpPr/>
          <p:nvPr/>
        </p:nvSpPr>
        <p:spPr>
          <a:xfrm>
            <a:off x="6280190" y="5272564"/>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Use LibreChat for appropriate work and learning tasks</a:t>
            </a:r>
            <a:endParaRPr lang="en-US" sz="1550" dirty="0"/>
          </a:p>
        </p:txBody>
      </p:sp>
      <p:sp>
        <p:nvSpPr>
          <p:cNvPr id="9" name="Text 6"/>
          <p:cNvSpPr/>
          <p:nvPr/>
        </p:nvSpPr>
        <p:spPr>
          <a:xfrm>
            <a:off x="10308074" y="2619613"/>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Do Not</a:t>
            </a:r>
            <a:endParaRPr lang="en-US" sz="2100" dirty="0"/>
          </a:p>
        </p:txBody>
      </p:sp>
      <p:sp>
        <p:nvSpPr>
          <p:cNvPr id="10" name="Text 7"/>
          <p:cNvSpPr/>
          <p:nvPr/>
        </p:nvSpPr>
        <p:spPr>
          <a:xfrm>
            <a:off x="10308074" y="3159085"/>
            <a:ext cx="3536156" cy="95261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Paste highly sensitive personal or company information unless your policy allows it</a:t>
            </a:r>
            <a:endParaRPr lang="en-US" sz="1550" dirty="0"/>
          </a:p>
        </p:txBody>
      </p:sp>
      <p:sp>
        <p:nvSpPr>
          <p:cNvPr id="11" name="Text 8"/>
          <p:cNvSpPr/>
          <p:nvPr/>
        </p:nvSpPr>
        <p:spPr>
          <a:xfrm>
            <a:off x="10308074" y="4181118"/>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Share confidential health records or financial details</a:t>
            </a:r>
            <a:endParaRPr lang="en-US" sz="1550" dirty="0"/>
          </a:p>
        </p:txBody>
      </p:sp>
      <p:sp>
        <p:nvSpPr>
          <p:cNvPr id="12" name="Text 9"/>
          <p:cNvSpPr/>
          <p:nvPr/>
        </p:nvSpPr>
        <p:spPr>
          <a:xfrm>
            <a:off x="10308074" y="4885611"/>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Assume all AI answers are completely accurate</a:t>
            </a:r>
            <a:endParaRPr lang="en-US" sz="1550" dirty="0"/>
          </a:p>
        </p:txBody>
      </p:sp>
      <p:sp>
        <p:nvSpPr>
          <p:cNvPr id="13" name="Text 10"/>
          <p:cNvSpPr/>
          <p:nvPr/>
        </p:nvSpPr>
        <p:spPr>
          <a:xfrm>
            <a:off x="10308074" y="5590103"/>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272525"/>
                </a:solidFill>
                <a:latin typeface="Inter" pitchFamily="34" charset="0"/>
                <a:ea typeface="Inter" pitchFamily="34" charset="-122"/>
                <a:cs typeface="Inter" pitchFamily="34" charset="-120"/>
              </a:rPr>
              <a:t>Ignore your organization's data protection rules</a:t>
            </a:r>
            <a:endParaRPr lang="en-US" sz="1550" dirty="0"/>
          </a:p>
        </p:txBody>
      </p:sp>
      <p:sp>
        <p:nvSpPr>
          <p:cNvPr id="14" name="Text 11"/>
          <p:cNvSpPr/>
          <p:nvPr/>
        </p:nvSpPr>
        <p:spPr>
          <a:xfrm>
            <a:off x="6280190" y="6517838"/>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Use clear examples of sensitive data, such as health records or financial details. Explain that even with self hosted solutions, policies matter. Encourage a "safety first" mindset.</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1167884"/>
            <a:ext cx="7470696"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Study and Learning Scenarios</a:t>
            </a:r>
            <a:endParaRPr lang="en-US" sz="42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246948"/>
            <a:ext cx="595313" cy="595313"/>
          </a:xfrm>
          <a:prstGeom prst="rect">
            <a:avLst/>
          </a:prstGeom>
        </p:spPr>
      </p:pic>
      <p:sp>
        <p:nvSpPr>
          <p:cNvPr id="4" name="Text 1"/>
          <p:cNvSpPr/>
          <p:nvPr/>
        </p:nvSpPr>
        <p:spPr>
          <a:xfrm>
            <a:off x="793790" y="3090267"/>
            <a:ext cx="3118604"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Simplify Complex Topics</a:t>
            </a:r>
            <a:endParaRPr lang="en-US" sz="2100" dirty="0"/>
          </a:p>
        </p:txBody>
      </p:sp>
      <p:sp>
        <p:nvSpPr>
          <p:cNvPr id="5" name="Text 2"/>
          <p:cNvSpPr/>
          <p:nvPr/>
        </p:nvSpPr>
        <p:spPr>
          <a:xfrm>
            <a:off x="793790" y="3550444"/>
            <a:ext cx="6397347"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Turn complex textbook chapters into simple explanations and summaries.</a:t>
            </a:r>
            <a:endParaRPr lang="en-US" sz="15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9144" y="2246948"/>
            <a:ext cx="595313" cy="595313"/>
          </a:xfrm>
          <a:prstGeom prst="rect">
            <a:avLst/>
          </a:prstGeom>
        </p:spPr>
      </p:pic>
      <p:sp>
        <p:nvSpPr>
          <p:cNvPr id="7" name="Text 3"/>
          <p:cNvSpPr/>
          <p:nvPr/>
        </p:nvSpPr>
        <p:spPr>
          <a:xfrm>
            <a:off x="7439144" y="3090267"/>
            <a:ext cx="2852142"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Create Study Materials</a:t>
            </a:r>
            <a:endParaRPr lang="en-US" sz="2100" dirty="0"/>
          </a:p>
        </p:txBody>
      </p:sp>
      <p:sp>
        <p:nvSpPr>
          <p:cNvPr id="8" name="Text 4"/>
          <p:cNvSpPr/>
          <p:nvPr/>
        </p:nvSpPr>
        <p:spPr>
          <a:xfrm>
            <a:off x="7439144" y="3550444"/>
            <a:ext cx="6397466"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Create quizzes and flashcards from your notes or lectures.</a:t>
            </a:r>
            <a:endParaRPr lang="en-US" sz="15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4582358"/>
            <a:ext cx="595313" cy="595313"/>
          </a:xfrm>
          <a:prstGeom prst="rect">
            <a:avLst/>
          </a:prstGeom>
        </p:spPr>
      </p:pic>
      <p:sp>
        <p:nvSpPr>
          <p:cNvPr id="10" name="Text 5"/>
          <p:cNvSpPr/>
          <p:nvPr/>
        </p:nvSpPr>
        <p:spPr>
          <a:xfrm>
            <a:off x="793790" y="5425678"/>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Language Practice</a:t>
            </a:r>
            <a:endParaRPr lang="en-US" sz="2100" dirty="0"/>
          </a:p>
        </p:txBody>
      </p:sp>
      <p:sp>
        <p:nvSpPr>
          <p:cNvPr id="11" name="Text 6"/>
          <p:cNvSpPr/>
          <p:nvPr/>
        </p:nvSpPr>
        <p:spPr>
          <a:xfrm>
            <a:off x="793790" y="5885855"/>
            <a:ext cx="6397347"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Practice languages by chatting with LibreChat as a tutor.</a:t>
            </a:r>
            <a:endParaRPr lang="en-US" sz="15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9144" y="4582358"/>
            <a:ext cx="595313" cy="595313"/>
          </a:xfrm>
          <a:prstGeom prst="rect">
            <a:avLst/>
          </a:prstGeom>
        </p:spPr>
      </p:pic>
      <p:sp>
        <p:nvSpPr>
          <p:cNvPr id="13" name="Text 7"/>
          <p:cNvSpPr/>
          <p:nvPr/>
        </p:nvSpPr>
        <p:spPr>
          <a:xfrm>
            <a:off x="7439144" y="5425678"/>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Step-by-Step Help</a:t>
            </a:r>
            <a:endParaRPr lang="en-US" sz="2100" dirty="0"/>
          </a:p>
        </p:txBody>
      </p:sp>
      <p:sp>
        <p:nvSpPr>
          <p:cNvPr id="14" name="Text 8"/>
          <p:cNvSpPr/>
          <p:nvPr/>
        </p:nvSpPr>
        <p:spPr>
          <a:xfrm>
            <a:off x="7439144" y="5885855"/>
            <a:ext cx="6397466"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Ask for step by step explanations of math or science problems.</a:t>
            </a:r>
            <a:endParaRPr lang="en-US" sz="1550" dirty="0"/>
          </a:p>
        </p:txBody>
      </p:sp>
      <p:sp>
        <p:nvSpPr>
          <p:cNvPr id="15" name="Text 9"/>
          <p:cNvSpPr/>
          <p:nvPr/>
        </p:nvSpPr>
        <p:spPr>
          <a:xfrm>
            <a:off x="793790" y="642663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Make the connection between everyday student struggles and LibreChat capabilities. Stress that it should support learning, not replace thinking or lead to plagiarism. Suggest using the AI to understand material, then writing in their own words.</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93790" y="746046"/>
            <a:ext cx="8228052"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Work and Productivity Scenarios</a:t>
            </a:r>
            <a:endParaRPr lang="en-US" sz="4250" dirty="0"/>
          </a:p>
        </p:txBody>
      </p:sp>
      <p:sp>
        <p:nvSpPr>
          <p:cNvPr id="3" name="Shape 1"/>
          <p:cNvSpPr/>
          <p:nvPr/>
        </p:nvSpPr>
        <p:spPr>
          <a:xfrm>
            <a:off x="793790" y="1825109"/>
            <a:ext cx="6422231" cy="2300883"/>
          </a:xfrm>
          <a:prstGeom prst="roundRect">
            <a:avLst>
              <a:gd name="adj" fmla="val 3623"/>
            </a:avLst>
          </a:prstGeom>
          <a:solidFill>
            <a:srgbClr val="E0D7F4"/>
          </a:solidFill>
          <a:ln w="7620">
            <a:solidFill>
              <a:srgbClr val="C6BDDA"/>
            </a:solidFill>
            <a:prstDash val="solid"/>
          </a:ln>
        </p:spPr>
      </p:sp>
      <p:sp>
        <p:nvSpPr>
          <p:cNvPr id="4" name="Shape 2"/>
          <p:cNvSpPr/>
          <p:nvPr/>
        </p:nvSpPr>
        <p:spPr>
          <a:xfrm>
            <a:off x="999768" y="2031087"/>
            <a:ext cx="595313" cy="595313"/>
          </a:xfrm>
          <a:prstGeom prst="roundRect">
            <a:avLst>
              <a:gd name="adj" fmla="val 15358451"/>
            </a:avLst>
          </a:prstGeom>
          <a:solidFill>
            <a:srgbClr val="6237C8"/>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63479" y="2194679"/>
            <a:ext cx="267891" cy="267891"/>
          </a:xfrm>
          <a:prstGeom prst="rect">
            <a:avLst/>
          </a:prstGeom>
        </p:spPr>
      </p:pic>
      <p:sp>
        <p:nvSpPr>
          <p:cNvPr id="6" name="Text 3"/>
          <p:cNvSpPr/>
          <p:nvPr/>
        </p:nvSpPr>
        <p:spPr>
          <a:xfrm>
            <a:off x="999768" y="2824758"/>
            <a:ext cx="28838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Draft Communications</a:t>
            </a:r>
            <a:endParaRPr lang="en-US" sz="2100" dirty="0"/>
          </a:p>
        </p:txBody>
      </p:sp>
      <p:sp>
        <p:nvSpPr>
          <p:cNvPr id="7" name="Text 4"/>
          <p:cNvSpPr/>
          <p:nvPr/>
        </p:nvSpPr>
        <p:spPr>
          <a:xfrm>
            <a:off x="999768" y="3284934"/>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Draft emails, reports, and proposals from bullet points or rough notes.</a:t>
            </a:r>
            <a:endParaRPr lang="en-US" sz="1550" dirty="0"/>
          </a:p>
        </p:txBody>
      </p:sp>
      <p:sp>
        <p:nvSpPr>
          <p:cNvPr id="8" name="Shape 5"/>
          <p:cNvSpPr/>
          <p:nvPr/>
        </p:nvSpPr>
        <p:spPr>
          <a:xfrm>
            <a:off x="7414379" y="1825109"/>
            <a:ext cx="6422231" cy="2300883"/>
          </a:xfrm>
          <a:prstGeom prst="roundRect">
            <a:avLst>
              <a:gd name="adj" fmla="val 3623"/>
            </a:avLst>
          </a:prstGeom>
          <a:solidFill>
            <a:srgbClr val="E0D7F4"/>
          </a:solidFill>
          <a:ln w="7620">
            <a:solidFill>
              <a:srgbClr val="C6BDDA"/>
            </a:solidFill>
            <a:prstDash val="solid"/>
          </a:ln>
        </p:spPr>
      </p:sp>
      <p:sp>
        <p:nvSpPr>
          <p:cNvPr id="9" name="Shape 6"/>
          <p:cNvSpPr/>
          <p:nvPr/>
        </p:nvSpPr>
        <p:spPr>
          <a:xfrm>
            <a:off x="7620357" y="2031087"/>
            <a:ext cx="595313" cy="595313"/>
          </a:xfrm>
          <a:prstGeom prst="roundRect">
            <a:avLst>
              <a:gd name="adj" fmla="val 15358451"/>
            </a:avLst>
          </a:prstGeom>
          <a:solidFill>
            <a:srgbClr val="6237C8"/>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84068" y="2194679"/>
            <a:ext cx="267891" cy="267891"/>
          </a:xfrm>
          <a:prstGeom prst="rect">
            <a:avLst/>
          </a:prstGeom>
        </p:spPr>
      </p:pic>
      <p:sp>
        <p:nvSpPr>
          <p:cNvPr id="11" name="Text 7"/>
          <p:cNvSpPr/>
          <p:nvPr/>
        </p:nvSpPr>
        <p:spPr>
          <a:xfrm>
            <a:off x="7620357" y="2824758"/>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Meeting Summaries</a:t>
            </a:r>
            <a:endParaRPr lang="en-US" sz="2100" dirty="0"/>
          </a:p>
        </p:txBody>
      </p:sp>
      <p:sp>
        <p:nvSpPr>
          <p:cNvPr id="12" name="Text 8"/>
          <p:cNvSpPr/>
          <p:nvPr/>
        </p:nvSpPr>
        <p:spPr>
          <a:xfrm>
            <a:off x="7620357" y="3284934"/>
            <a:ext cx="6010275"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Turn meeting transcripts into clear action lists and summaries.</a:t>
            </a:r>
            <a:endParaRPr lang="en-US" sz="1550" dirty="0"/>
          </a:p>
        </p:txBody>
      </p:sp>
      <p:sp>
        <p:nvSpPr>
          <p:cNvPr id="13" name="Shape 9"/>
          <p:cNvSpPr/>
          <p:nvPr/>
        </p:nvSpPr>
        <p:spPr>
          <a:xfrm>
            <a:off x="793790" y="4324350"/>
            <a:ext cx="6422231" cy="2300883"/>
          </a:xfrm>
          <a:prstGeom prst="roundRect">
            <a:avLst>
              <a:gd name="adj" fmla="val 3623"/>
            </a:avLst>
          </a:prstGeom>
          <a:solidFill>
            <a:srgbClr val="E0D7F4"/>
          </a:solidFill>
          <a:ln w="7620">
            <a:solidFill>
              <a:srgbClr val="C6BDDA"/>
            </a:solidFill>
            <a:prstDash val="solid"/>
          </a:ln>
        </p:spPr>
      </p:sp>
      <p:sp>
        <p:nvSpPr>
          <p:cNvPr id="14" name="Shape 10"/>
          <p:cNvSpPr/>
          <p:nvPr/>
        </p:nvSpPr>
        <p:spPr>
          <a:xfrm>
            <a:off x="999768" y="4530328"/>
            <a:ext cx="595313" cy="595313"/>
          </a:xfrm>
          <a:prstGeom prst="roundRect">
            <a:avLst>
              <a:gd name="adj" fmla="val 15358451"/>
            </a:avLst>
          </a:prstGeom>
          <a:solidFill>
            <a:srgbClr val="6237C8"/>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3479" y="4693920"/>
            <a:ext cx="267891" cy="267891"/>
          </a:xfrm>
          <a:prstGeom prst="rect">
            <a:avLst/>
          </a:prstGeom>
        </p:spPr>
      </p:pic>
      <p:sp>
        <p:nvSpPr>
          <p:cNvPr id="16" name="Text 11"/>
          <p:cNvSpPr/>
          <p:nvPr/>
        </p:nvSpPr>
        <p:spPr>
          <a:xfrm>
            <a:off x="999768" y="5323999"/>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Brainstorming</a:t>
            </a:r>
            <a:endParaRPr lang="en-US" sz="2100" dirty="0"/>
          </a:p>
        </p:txBody>
      </p:sp>
      <p:sp>
        <p:nvSpPr>
          <p:cNvPr id="17" name="Text 12"/>
          <p:cNvSpPr/>
          <p:nvPr/>
        </p:nvSpPr>
        <p:spPr>
          <a:xfrm>
            <a:off x="999768" y="5784175"/>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Brainstorm ideas for campaigns, features, or process improvements.</a:t>
            </a:r>
            <a:endParaRPr lang="en-US" sz="1550" dirty="0"/>
          </a:p>
        </p:txBody>
      </p:sp>
      <p:sp>
        <p:nvSpPr>
          <p:cNvPr id="18" name="Shape 13"/>
          <p:cNvSpPr/>
          <p:nvPr/>
        </p:nvSpPr>
        <p:spPr>
          <a:xfrm>
            <a:off x="7414379" y="4324350"/>
            <a:ext cx="6422231" cy="2300883"/>
          </a:xfrm>
          <a:prstGeom prst="roundRect">
            <a:avLst>
              <a:gd name="adj" fmla="val 3623"/>
            </a:avLst>
          </a:prstGeom>
          <a:solidFill>
            <a:srgbClr val="E0D7F4"/>
          </a:solidFill>
          <a:ln w="7620">
            <a:solidFill>
              <a:srgbClr val="C6BDDA"/>
            </a:solidFill>
            <a:prstDash val="solid"/>
          </a:ln>
        </p:spPr>
      </p:sp>
      <p:sp>
        <p:nvSpPr>
          <p:cNvPr id="19" name="Shape 14"/>
          <p:cNvSpPr/>
          <p:nvPr/>
        </p:nvSpPr>
        <p:spPr>
          <a:xfrm>
            <a:off x="7620357" y="4530328"/>
            <a:ext cx="595313" cy="595313"/>
          </a:xfrm>
          <a:prstGeom prst="roundRect">
            <a:avLst>
              <a:gd name="adj" fmla="val 15358451"/>
            </a:avLst>
          </a:prstGeom>
          <a:solidFill>
            <a:srgbClr val="6237C8"/>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84068" y="4693920"/>
            <a:ext cx="267891" cy="267891"/>
          </a:xfrm>
          <a:prstGeom prst="rect">
            <a:avLst/>
          </a:prstGeom>
        </p:spPr>
      </p:pic>
      <p:sp>
        <p:nvSpPr>
          <p:cNvPr id="21" name="Text 15"/>
          <p:cNvSpPr/>
          <p:nvPr/>
        </p:nvSpPr>
        <p:spPr>
          <a:xfrm>
            <a:off x="7620357" y="5323999"/>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Documentation</a:t>
            </a:r>
            <a:endParaRPr lang="en-US" sz="2100" dirty="0"/>
          </a:p>
        </p:txBody>
      </p:sp>
      <p:sp>
        <p:nvSpPr>
          <p:cNvPr id="22" name="Text 16"/>
          <p:cNvSpPr/>
          <p:nvPr/>
        </p:nvSpPr>
        <p:spPr>
          <a:xfrm>
            <a:off x="7620357" y="5784175"/>
            <a:ext cx="6010275"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Prepare slide outlines, FAQs, or documentation from scattered information.</a:t>
            </a:r>
            <a:endParaRPr lang="en-US" sz="1550" dirty="0"/>
          </a:p>
        </p:txBody>
      </p:sp>
      <p:sp>
        <p:nvSpPr>
          <p:cNvPr id="23" name="Text 17"/>
          <p:cNvSpPr/>
          <p:nvPr/>
        </p:nvSpPr>
        <p:spPr>
          <a:xfrm>
            <a:off x="793790" y="684847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Use realistic examples, such as preparing a client update or summarizing a long policy. Emphasize time savings and the value of having a "first draft machine" that you then polish.</a:t>
            </a:r>
            <a:endParaRPr lang="en-US" sz="15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4601"/>
          </a:xfrm>
          <a:prstGeom prst="rect">
            <a:avLst/>
          </a:prstGeom>
        </p:spPr>
      </p:pic>
      <p:sp>
        <p:nvSpPr>
          <p:cNvPr id="3" name="Text 0"/>
          <p:cNvSpPr/>
          <p:nvPr/>
        </p:nvSpPr>
        <p:spPr>
          <a:xfrm>
            <a:off x="762119" y="523875"/>
            <a:ext cx="7619762" cy="1244441"/>
          </a:xfrm>
          <a:prstGeom prst="rect">
            <a:avLst/>
          </a:prstGeom>
          <a:noFill/>
          <a:ln/>
        </p:spPr>
        <p:txBody>
          <a:bodyPr wrap="square" lIns="0" tIns="0" rIns="0" bIns="0" rtlCol="0" anchor="t"/>
          <a:lstStyle/>
          <a:p>
            <a:pPr algn="l" indent="0" marL="0">
              <a:lnSpc>
                <a:spcPts val="4850"/>
              </a:lnSpc>
              <a:buNone/>
            </a:pPr>
            <a:r>
              <a:rPr lang="en-US" sz="3900" b="1" dirty="0">
                <a:solidFill>
                  <a:srgbClr val="F95F88"/>
                </a:solidFill>
                <a:latin typeface="Petrona Bold" pitchFamily="34" charset="0"/>
                <a:ea typeface="Petrona Bold" pitchFamily="34" charset="-122"/>
                <a:cs typeface="Petrona Bold" pitchFamily="34" charset="-120"/>
              </a:rPr>
              <a:t>Personal Life and Creativity Scenarios</a:t>
            </a:r>
            <a:endParaRPr lang="en-US" sz="3900" dirty="0"/>
          </a:p>
        </p:txBody>
      </p:sp>
      <p:sp>
        <p:nvSpPr>
          <p:cNvPr id="4" name="Shape 1"/>
          <p:cNvSpPr/>
          <p:nvPr/>
        </p:nvSpPr>
        <p:spPr>
          <a:xfrm>
            <a:off x="762119" y="2039779"/>
            <a:ext cx="7619762" cy="1086326"/>
          </a:xfrm>
          <a:prstGeom prst="roundRect">
            <a:avLst>
              <a:gd name="adj" fmla="val 39990"/>
            </a:avLst>
          </a:prstGeom>
          <a:solidFill>
            <a:srgbClr val="E0D7F4"/>
          </a:solidFill>
          <a:ln w="7620">
            <a:solidFill>
              <a:srgbClr val="C6BDDA"/>
            </a:solidFill>
            <a:prstDash val="solid"/>
          </a:ln>
        </p:spPr>
      </p:sp>
      <p:sp>
        <p:nvSpPr>
          <p:cNvPr id="5" name="Text 2"/>
          <p:cNvSpPr/>
          <p:nvPr/>
        </p:nvSpPr>
        <p:spPr>
          <a:xfrm>
            <a:off x="950714" y="2228374"/>
            <a:ext cx="2488763" cy="310991"/>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Petrona Bold" pitchFamily="34" charset="0"/>
                <a:ea typeface="Petrona Bold" pitchFamily="34" charset="-122"/>
                <a:cs typeface="Petrona Bold" pitchFamily="34" charset="-120"/>
              </a:rPr>
              <a:t>Travel Planning</a:t>
            </a:r>
            <a:endParaRPr lang="en-US" sz="1950" dirty="0"/>
          </a:p>
        </p:txBody>
      </p:sp>
      <p:sp>
        <p:nvSpPr>
          <p:cNvPr id="6" name="Text 3"/>
          <p:cNvSpPr/>
          <p:nvPr/>
        </p:nvSpPr>
        <p:spPr>
          <a:xfrm>
            <a:off x="950714" y="2647950"/>
            <a:ext cx="7242572" cy="289560"/>
          </a:xfrm>
          <a:prstGeom prst="rect">
            <a:avLst/>
          </a:prstGeom>
          <a:noFill/>
          <a:ln/>
        </p:spPr>
        <p:txBody>
          <a:bodyPr wrap="non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Plan trips, weekend activities, or personal projects with checklists.</a:t>
            </a:r>
            <a:endParaRPr lang="en-US" sz="1400" dirty="0"/>
          </a:p>
        </p:txBody>
      </p:sp>
      <p:sp>
        <p:nvSpPr>
          <p:cNvPr id="7" name="Shape 4"/>
          <p:cNvSpPr/>
          <p:nvPr/>
        </p:nvSpPr>
        <p:spPr>
          <a:xfrm>
            <a:off x="762119" y="3307080"/>
            <a:ext cx="7619762" cy="1086326"/>
          </a:xfrm>
          <a:prstGeom prst="roundRect">
            <a:avLst>
              <a:gd name="adj" fmla="val 39990"/>
            </a:avLst>
          </a:prstGeom>
          <a:solidFill>
            <a:srgbClr val="E0D7F4"/>
          </a:solidFill>
          <a:ln w="7620">
            <a:solidFill>
              <a:srgbClr val="C6BDDA"/>
            </a:solidFill>
            <a:prstDash val="solid"/>
          </a:ln>
        </p:spPr>
      </p:sp>
      <p:sp>
        <p:nvSpPr>
          <p:cNvPr id="8" name="Text 5"/>
          <p:cNvSpPr/>
          <p:nvPr/>
        </p:nvSpPr>
        <p:spPr>
          <a:xfrm>
            <a:off x="950714" y="3495675"/>
            <a:ext cx="2488763" cy="310991"/>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Petrona Bold" pitchFamily="34" charset="0"/>
                <a:ea typeface="Petrona Bold" pitchFamily="34" charset="-122"/>
                <a:cs typeface="Petrona Bold" pitchFamily="34" charset="-120"/>
              </a:rPr>
              <a:t>Recipe Ideas</a:t>
            </a:r>
            <a:endParaRPr lang="en-US" sz="1950" dirty="0"/>
          </a:p>
        </p:txBody>
      </p:sp>
      <p:sp>
        <p:nvSpPr>
          <p:cNvPr id="9" name="Text 6"/>
          <p:cNvSpPr/>
          <p:nvPr/>
        </p:nvSpPr>
        <p:spPr>
          <a:xfrm>
            <a:off x="950714" y="3915251"/>
            <a:ext cx="7242572" cy="289560"/>
          </a:xfrm>
          <a:prstGeom prst="rect">
            <a:avLst/>
          </a:prstGeom>
          <a:noFill/>
          <a:ln/>
        </p:spPr>
        <p:txBody>
          <a:bodyPr wrap="non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Get recipe ideas based on ingredients you have at home.</a:t>
            </a:r>
            <a:endParaRPr lang="en-US" sz="1400" dirty="0"/>
          </a:p>
        </p:txBody>
      </p:sp>
      <p:sp>
        <p:nvSpPr>
          <p:cNvPr id="10" name="Shape 7"/>
          <p:cNvSpPr/>
          <p:nvPr/>
        </p:nvSpPr>
        <p:spPr>
          <a:xfrm>
            <a:off x="762119" y="4574381"/>
            <a:ext cx="7619762" cy="1086326"/>
          </a:xfrm>
          <a:prstGeom prst="roundRect">
            <a:avLst>
              <a:gd name="adj" fmla="val 39990"/>
            </a:avLst>
          </a:prstGeom>
          <a:solidFill>
            <a:srgbClr val="E0D7F4"/>
          </a:solidFill>
          <a:ln w="7620">
            <a:solidFill>
              <a:srgbClr val="C6BDDA"/>
            </a:solidFill>
            <a:prstDash val="solid"/>
          </a:ln>
        </p:spPr>
      </p:sp>
      <p:sp>
        <p:nvSpPr>
          <p:cNvPr id="11" name="Text 8"/>
          <p:cNvSpPr/>
          <p:nvPr/>
        </p:nvSpPr>
        <p:spPr>
          <a:xfrm>
            <a:off x="950714" y="4762976"/>
            <a:ext cx="2488763" cy="310991"/>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Petrona Bold" pitchFamily="34" charset="0"/>
                <a:ea typeface="Petrona Bold" pitchFamily="34" charset="-122"/>
                <a:cs typeface="Petrona Bold" pitchFamily="34" charset="-120"/>
              </a:rPr>
              <a:t>Gift Brainstorming</a:t>
            </a:r>
            <a:endParaRPr lang="en-US" sz="1950" dirty="0"/>
          </a:p>
        </p:txBody>
      </p:sp>
      <p:sp>
        <p:nvSpPr>
          <p:cNvPr id="12" name="Text 9"/>
          <p:cNvSpPr/>
          <p:nvPr/>
        </p:nvSpPr>
        <p:spPr>
          <a:xfrm>
            <a:off x="950714" y="5182553"/>
            <a:ext cx="7242572" cy="289560"/>
          </a:xfrm>
          <a:prstGeom prst="rect">
            <a:avLst/>
          </a:prstGeom>
          <a:noFill/>
          <a:ln/>
        </p:spPr>
        <p:txBody>
          <a:bodyPr wrap="non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Brainstorm gift ideas or event themes.</a:t>
            </a:r>
            <a:endParaRPr lang="en-US" sz="1400" dirty="0"/>
          </a:p>
        </p:txBody>
      </p:sp>
      <p:sp>
        <p:nvSpPr>
          <p:cNvPr id="13" name="Shape 10"/>
          <p:cNvSpPr/>
          <p:nvPr/>
        </p:nvSpPr>
        <p:spPr>
          <a:xfrm>
            <a:off x="762119" y="5841682"/>
            <a:ext cx="7619762" cy="1086326"/>
          </a:xfrm>
          <a:prstGeom prst="roundRect">
            <a:avLst>
              <a:gd name="adj" fmla="val 39990"/>
            </a:avLst>
          </a:prstGeom>
          <a:solidFill>
            <a:srgbClr val="E0D7F4"/>
          </a:solidFill>
          <a:ln w="7620">
            <a:solidFill>
              <a:srgbClr val="C6BDDA"/>
            </a:solidFill>
            <a:prstDash val="solid"/>
          </a:ln>
        </p:spPr>
      </p:sp>
      <p:sp>
        <p:nvSpPr>
          <p:cNvPr id="14" name="Text 11"/>
          <p:cNvSpPr/>
          <p:nvPr/>
        </p:nvSpPr>
        <p:spPr>
          <a:xfrm>
            <a:off x="950714" y="6030278"/>
            <a:ext cx="2488763" cy="310991"/>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Petrona Bold" pitchFamily="34" charset="0"/>
                <a:ea typeface="Petrona Bold" pitchFamily="34" charset="-122"/>
                <a:cs typeface="Petrona Bold" pitchFamily="34" charset="-120"/>
              </a:rPr>
              <a:t>Creative Writing</a:t>
            </a:r>
            <a:endParaRPr lang="en-US" sz="1950" dirty="0"/>
          </a:p>
        </p:txBody>
      </p:sp>
      <p:sp>
        <p:nvSpPr>
          <p:cNvPr id="15" name="Text 12"/>
          <p:cNvSpPr/>
          <p:nvPr/>
        </p:nvSpPr>
        <p:spPr>
          <a:xfrm>
            <a:off x="950714" y="6449854"/>
            <a:ext cx="7242572" cy="289560"/>
          </a:xfrm>
          <a:prstGeom prst="rect">
            <a:avLst/>
          </a:prstGeom>
          <a:noFill/>
          <a:ln/>
        </p:spPr>
        <p:txBody>
          <a:bodyPr wrap="non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Explore creative writing prompts, stories, or journaling support.</a:t>
            </a:r>
            <a:endParaRPr lang="en-US" sz="1400" dirty="0"/>
          </a:p>
        </p:txBody>
      </p:sp>
      <p:sp>
        <p:nvSpPr>
          <p:cNvPr id="16" name="Text 13"/>
          <p:cNvSpPr/>
          <p:nvPr/>
        </p:nvSpPr>
        <p:spPr>
          <a:xfrm>
            <a:off x="762119" y="7131606"/>
            <a:ext cx="7619762" cy="57912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Remind the audience that LibreChat can be fun and helpful beyond work and study. This makes the tool feel less intimidating and encourages experimentation.</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93790" y="1493996"/>
            <a:ext cx="8461653"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Common Problems You Might See</a:t>
            </a:r>
            <a:endParaRPr lang="en-US" sz="4250" dirty="0"/>
          </a:p>
        </p:txBody>
      </p:sp>
      <p:sp>
        <p:nvSpPr>
          <p:cNvPr id="3" name="Shape 1"/>
          <p:cNvSpPr/>
          <p:nvPr/>
        </p:nvSpPr>
        <p:spPr>
          <a:xfrm>
            <a:off x="793790" y="2573060"/>
            <a:ext cx="6422231" cy="1552932"/>
          </a:xfrm>
          <a:prstGeom prst="roundRect">
            <a:avLst>
              <a:gd name="adj" fmla="val 5368"/>
            </a:avLst>
          </a:prstGeom>
          <a:solidFill>
            <a:srgbClr val="FDFAF7"/>
          </a:solidFill>
          <a:ln w="22860">
            <a:solidFill>
              <a:srgbClr val="C6BDDA"/>
            </a:solidFill>
            <a:prstDash val="solid"/>
          </a:ln>
        </p:spPr>
      </p:sp>
      <p:sp>
        <p:nvSpPr>
          <p:cNvPr id="4" name="Text 2"/>
          <p:cNvSpPr/>
          <p:nvPr/>
        </p:nvSpPr>
        <p:spPr>
          <a:xfrm>
            <a:off x="1015008" y="2794278"/>
            <a:ext cx="3561755" cy="356354"/>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Petrona Bold" pitchFamily="34" charset="0"/>
                <a:ea typeface="Petrona Bold" pitchFamily="34" charset="-122"/>
                <a:cs typeface="Petrona Bold" pitchFamily="34" charset="-120"/>
              </a:rPr>
              <a:t>⚠️</a:t>
            </a:r>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 Connection or API Errors</a:t>
            </a:r>
            <a:endParaRPr lang="en-US" sz="2100" dirty="0"/>
          </a:p>
        </p:txBody>
      </p:sp>
      <p:sp>
        <p:nvSpPr>
          <p:cNvPr id="5" name="Text 3"/>
          <p:cNvSpPr/>
          <p:nvPr/>
        </p:nvSpPr>
        <p:spPr>
          <a:xfrm>
            <a:off x="1015008" y="3269694"/>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"Connection" or "API" errors when the AI provider is down or misconfigured.</a:t>
            </a:r>
            <a:endParaRPr lang="en-US" sz="1550" dirty="0"/>
          </a:p>
        </p:txBody>
      </p:sp>
      <p:sp>
        <p:nvSpPr>
          <p:cNvPr id="6" name="Shape 4"/>
          <p:cNvSpPr/>
          <p:nvPr/>
        </p:nvSpPr>
        <p:spPr>
          <a:xfrm>
            <a:off x="7414379" y="2573060"/>
            <a:ext cx="6422231" cy="1552932"/>
          </a:xfrm>
          <a:prstGeom prst="roundRect">
            <a:avLst>
              <a:gd name="adj" fmla="val 5368"/>
            </a:avLst>
          </a:prstGeom>
          <a:solidFill>
            <a:srgbClr val="FDFAF7"/>
          </a:solidFill>
          <a:ln w="22860">
            <a:solidFill>
              <a:srgbClr val="C6BDDA"/>
            </a:solidFill>
            <a:prstDash val="solid"/>
          </a:ln>
        </p:spPr>
      </p:sp>
      <p:sp>
        <p:nvSpPr>
          <p:cNvPr id="7" name="Text 5"/>
          <p:cNvSpPr/>
          <p:nvPr/>
        </p:nvSpPr>
        <p:spPr>
          <a:xfrm>
            <a:off x="7635597" y="2794278"/>
            <a:ext cx="2728913" cy="356354"/>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Petrona Bold" pitchFamily="34" charset="0"/>
                <a:ea typeface="Petrona Bold" pitchFamily="34" charset="-122"/>
                <a:cs typeface="Petrona Bold" pitchFamily="34" charset="-120"/>
              </a:rPr>
              <a:t>⏱️</a:t>
            </a:r>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 Slow Responses</a:t>
            </a:r>
            <a:endParaRPr lang="en-US" sz="2100" dirty="0"/>
          </a:p>
        </p:txBody>
      </p:sp>
      <p:sp>
        <p:nvSpPr>
          <p:cNvPr id="8" name="Text 6"/>
          <p:cNvSpPr/>
          <p:nvPr/>
        </p:nvSpPr>
        <p:spPr>
          <a:xfrm>
            <a:off x="7635597" y="3269694"/>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Slow responses during busy times or when using very advanced models.</a:t>
            </a:r>
            <a:endParaRPr lang="en-US" sz="1550" dirty="0"/>
          </a:p>
        </p:txBody>
      </p:sp>
      <p:sp>
        <p:nvSpPr>
          <p:cNvPr id="9" name="Shape 7"/>
          <p:cNvSpPr/>
          <p:nvPr/>
        </p:nvSpPr>
        <p:spPr>
          <a:xfrm>
            <a:off x="793790" y="4324350"/>
            <a:ext cx="6422231" cy="1552932"/>
          </a:xfrm>
          <a:prstGeom prst="roundRect">
            <a:avLst>
              <a:gd name="adj" fmla="val 5368"/>
            </a:avLst>
          </a:prstGeom>
          <a:solidFill>
            <a:srgbClr val="FDFAF7"/>
          </a:solidFill>
          <a:ln w="22860">
            <a:solidFill>
              <a:srgbClr val="C6BDDA"/>
            </a:solidFill>
            <a:prstDash val="solid"/>
          </a:ln>
        </p:spPr>
      </p:sp>
      <p:sp>
        <p:nvSpPr>
          <p:cNvPr id="10" name="Text 8"/>
          <p:cNvSpPr/>
          <p:nvPr/>
        </p:nvSpPr>
        <p:spPr>
          <a:xfrm>
            <a:off x="1015008" y="4545568"/>
            <a:ext cx="2728913" cy="356354"/>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Petrona Bold" pitchFamily="34" charset="0"/>
                <a:ea typeface="Petrona Bold" pitchFamily="34" charset="-122"/>
                <a:cs typeface="Petrona Bold" pitchFamily="34" charset="-120"/>
              </a:rPr>
              <a:t>🚫</a:t>
            </a:r>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 Access Denied</a:t>
            </a:r>
            <a:endParaRPr lang="en-US" sz="2100" dirty="0"/>
          </a:p>
        </p:txBody>
      </p:sp>
      <p:sp>
        <p:nvSpPr>
          <p:cNvPr id="11" name="Text 9"/>
          <p:cNvSpPr/>
          <p:nvPr/>
        </p:nvSpPr>
        <p:spPr>
          <a:xfrm>
            <a:off x="1015008" y="5020985"/>
            <a:ext cx="5979795"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Access denied messages if your account lacks permission for certain models.</a:t>
            </a:r>
            <a:endParaRPr lang="en-US" sz="1550" dirty="0"/>
          </a:p>
        </p:txBody>
      </p:sp>
      <p:sp>
        <p:nvSpPr>
          <p:cNvPr id="12" name="Shape 10"/>
          <p:cNvSpPr/>
          <p:nvPr/>
        </p:nvSpPr>
        <p:spPr>
          <a:xfrm>
            <a:off x="7414379" y="4324350"/>
            <a:ext cx="6422231" cy="1552932"/>
          </a:xfrm>
          <a:prstGeom prst="roundRect">
            <a:avLst>
              <a:gd name="adj" fmla="val 5368"/>
            </a:avLst>
          </a:prstGeom>
          <a:solidFill>
            <a:srgbClr val="FDFAF7"/>
          </a:solidFill>
          <a:ln w="22860">
            <a:solidFill>
              <a:srgbClr val="C6BDDA"/>
            </a:solidFill>
            <a:prstDash val="solid"/>
          </a:ln>
        </p:spPr>
      </p:sp>
      <p:sp>
        <p:nvSpPr>
          <p:cNvPr id="13" name="Text 11"/>
          <p:cNvSpPr/>
          <p:nvPr/>
        </p:nvSpPr>
        <p:spPr>
          <a:xfrm>
            <a:off x="7635597" y="4545568"/>
            <a:ext cx="2728913" cy="356354"/>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Petrona Bold" pitchFamily="34" charset="0"/>
                <a:ea typeface="Petrona Bold" pitchFamily="34" charset="-122"/>
                <a:cs typeface="Petrona Bold" pitchFamily="34" charset="-120"/>
              </a:rPr>
              <a:t>📎</a:t>
            </a:r>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 Attachment Issues</a:t>
            </a:r>
            <a:endParaRPr lang="en-US" sz="2100" dirty="0"/>
          </a:p>
        </p:txBody>
      </p:sp>
      <p:sp>
        <p:nvSpPr>
          <p:cNvPr id="14" name="Text 12"/>
          <p:cNvSpPr/>
          <p:nvPr/>
        </p:nvSpPr>
        <p:spPr>
          <a:xfrm>
            <a:off x="7635597" y="5020985"/>
            <a:ext cx="5979795"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Attachments not working if file types or sizes are restricted.</a:t>
            </a:r>
            <a:endParaRPr lang="en-US" sz="1550" dirty="0"/>
          </a:p>
        </p:txBody>
      </p:sp>
      <p:sp>
        <p:nvSpPr>
          <p:cNvPr id="15" name="Text 13"/>
          <p:cNvSpPr/>
          <p:nvPr/>
        </p:nvSpPr>
        <p:spPr>
          <a:xfrm>
            <a:off x="793790" y="610052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Explain that many issues are not the user's fault. Encourage them to note the error message and contact support if simple retrying does not help. Suggest trying a different model or a smaller request when things are slow.</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93790" y="960953"/>
            <a:ext cx="7508319"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Simple Troubleshooting Steps</a:t>
            </a:r>
            <a:endParaRPr lang="en-US" sz="4250" dirty="0"/>
          </a:p>
        </p:txBody>
      </p:sp>
      <p:sp>
        <p:nvSpPr>
          <p:cNvPr id="3" name="Text 1"/>
          <p:cNvSpPr/>
          <p:nvPr/>
        </p:nvSpPr>
        <p:spPr>
          <a:xfrm>
            <a:off x="793790" y="1722477"/>
            <a:ext cx="4854178" cy="545663"/>
          </a:xfrm>
          <a:prstGeom prst="rect">
            <a:avLst/>
          </a:prstGeom>
          <a:noFill/>
          <a:ln/>
        </p:spPr>
        <p:txBody>
          <a:bodyPr wrap="none" lIns="0" tIns="0" rIns="0" bIns="0" rtlCol="0" anchor="t"/>
          <a:lstStyle/>
          <a:p>
            <a:pPr algn="l" indent="0" marL="0">
              <a:lnSpc>
                <a:spcPts val="4250"/>
              </a:lnSpc>
              <a:buNone/>
            </a:pPr>
            <a:r>
              <a:rPr lang="en-US" sz="3400" b="1" dirty="0">
                <a:solidFill>
                  <a:srgbClr val="28282F"/>
                </a:solidFill>
                <a:latin typeface="Petrona Bold" pitchFamily="34" charset="0"/>
                <a:ea typeface="Petrona Bold" pitchFamily="34" charset="-122"/>
                <a:cs typeface="Petrona Bold" pitchFamily="34" charset="-120"/>
              </a:rPr>
              <a:t>If something goes wrong</a:t>
            </a:r>
            <a:endParaRPr lang="en-US" sz="3400" dirty="0"/>
          </a:p>
        </p:txBody>
      </p:sp>
      <p:sp>
        <p:nvSpPr>
          <p:cNvPr id="4" name="Shape 2"/>
          <p:cNvSpPr/>
          <p:nvPr/>
        </p:nvSpPr>
        <p:spPr>
          <a:xfrm>
            <a:off x="1091446" y="3061930"/>
            <a:ext cx="6124456" cy="198358"/>
          </a:xfrm>
          <a:prstGeom prst="roundRect">
            <a:avLst>
              <a:gd name="adj" fmla="val 42025"/>
            </a:avLst>
          </a:prstGeom>
          <a:solidFill>
            <a:srgbClr val="E0D7F4"/>
          </a:solidFill>
          <a:ln w="7620">
            <a:solidFill>
              <a:srgbClr val="C6BDDA"/>
            </a:solidFill>
            <a:prstDash val="solid"/>
          </a:ln>
        </p:spPr>
      </p:sp>
      <p:sp>
        <p:nvSpPr>
          <p:cNvPr id="5" name="Shape 3"/>
          <p:cNvSpPr/>
          <p:nvPr/>
        </p:nvSpPr>
        <p:spPr>
          <a:xfrm>
            <a:off x="793790" y="2863453"/>
            <a:ext cx="595313" cy="595313"/>
          </a:xfrm>
          <a:prstGeom prst="roundRect">
            <a:avLst>
              <a:gd name="adj" fmla="val 76800"/>
            </a:avLst>
          </a:prstGeom>
          <a:solidFill>
            <a:srgbClr val="E0D7F4"/>
          </a:solidFill>
          <a:ln w="7620">
            <a:solidFill>
              <a:srgbClr val="C6BDDA"/>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2618" y="3012281"/>
            <a:ext cx="297656" cy="297656"/>
          </a:xfrm>
          <a:prstGeom prst="rect">
            <a:avLst/>
          </a:prstGeom>
        </p:spPr>
      </p:pic>
      <p:sp>
        <p:nvSpPr>
          <p:cNvPr id="7" name="Text 4"/>
          <p:cNvSpPr/>
          <p:nvPr/>
        </p:nvSpPr>
        <p:spPr>
          <a:xfrm>
            <a:off x="992148" y="3657124"/>
            <a:ext cx="5306020"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Refresh the page or reopen the browser tab</a:t>
            </a:r>
            <a:endParaRPr lang="en-US" sz="2100" dirty="0"/>
          </a:p>
        </p:txBody>
      </p:sp>
      <p:sp>
        <p:nvSpPr>
          <p:cNvPr id="8" name="Shape 5"/>
          <p:cNvSpPr/>
          <p:nvPr/>
        </p:nvSpPr>
        <p:spPr>
          <a:xfrm>
            <a:off x="7712035" y="2764274"/>
            <a:ext cx="6124456" cy="198358"/>
          </a:xfrm>
          <a:prstGeom prst="roundRect">
            <a:avLst>
              <a:gd name="adj" fmla="val 42025"/>
            </a:avLst>
          </a:prstGeom>
          <a:solidFill>
            <a:srgbClr val="E0D7F4"/>
          </a:solidFill>
          <a:ln w="7620">
            <a:solidFill>
              <a:srgbClr val="C6BDDA"/>
            </a:solidFill>
            <a:prstDash val="solid"/>
          </a:ln>
        </p:spPr>
      </p:sp>
      <p:sp>
        <p:nvSpPr>
          <p:cNvPr id="9" name="Shape 6"/>
          <p:cNvSpPr/>
          <p:nvPr/>
        </p:nvSpPr>
        <p:spPr>
          <a:xfrm>
            <a:off x="7414379" y="2565797"/>
            <a:ext cx="595313" cy="595313"/>
          </a:xfrm>
          <a:prstGeom prst="roundRect">
            <a:avLst>
              <a:gd name="adj" fmla="val 76800"/>
            </a:avLst>
          </a:prstGeom>
          <a:solidFill>
            <a:srgbClr val="E0D7F4"/>
          </a:solidFill>
          <a:ln w="7620">
            <a:solidFill>
              <a:srgbClr val="C6BDDA"/>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63207" y="2714625"/>
            <a:ext cx="297656" cy="297656"/>
          </a:xfrm>
          <a:prstGeom prst="rect">
            <a:avLst/>
          </a:prstGeom>
        </p:spPr>
      </p:pic>
      <p:sp>
        <p:nvSpPr>
          <p:cNvPr id="11" name="Text 7"/>
          <p:cNvSpPr/>
          <p:nvPr/>
        </p:nvSpPr>
        <p:spPr>
          <a:xfrm>
            <a:off x="7612737" y="3359468"/>
            <a:ext cx="602551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Try a shorter question or a different model if available</a:t>
            </a:r>
            <a:endParaRPr lang="en-US" sz="2100" dirty="0"/>
          </a:p>
        </p:txBody>
      </p:sp>
      <p:sp>
        <p:nvSpPr>
          <p:cNvPr id="12" name="Shape 8"/>
          <p:cNvSpPr/>
          <p:nvPr/>
        </p:nvSpPr>
        <p:spPr>
          <a:xfrm>
            <a:off x="1091446" y="4934545"/>
            <a:ext cx="6124456" cy="198358"/>
          </a:xfrm>
          <a:prstGeom prst="roundRect">
            <a:avLst>
              <a:gd name="adj" fmla="val 42025"/>
            </a:avLst>
          </a:prstGeom>
          <a:solidFill>
            <a:srgbClr val="E0D7F4"/>
          </a:solidFill>
          <a:ln w="7620">
            <a:solidFill>
              <a:srgbClr val="C6BDDA"/>
            </a:solidFill>
            <a:prstDash val="solid"/>
          </a:ln>
        </p:spPr>
      </p:sp>
      <p:sp>
        <p:nvSpPr>
          <p:cNvPr id="13" name="Shape 9"/>
          <p:cNvSpPr/>
          <p:nvPr/>
        </p:nvSpPr>
        <p:spPr>
          <a:xfrm>
            <a:off x="793790" y="4736068"/>
            <a:ext cx="595313" cy="595313"/>
          </a:xfrm>
          <a:prstGeom prst="roundRect">
            <a:avLst>
              <a:gd name="adj" fmla="val 76800"/>
            </a:avLst>
          </a:prstGeom>
          <a:solidFill>
            <a:srgbClr val="E0D7F4"/>
          </a:solidFill>
          <a:ln w="7620">
            <a:solidFill>
              <a:srgbClr val="C6BDDA"/>
            </a:solidFill>
            <a:prstDash val="solid"/>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618" y="4884896"/>
            <a:ext cx="297656" cy="297656"/>
          </a:xfrm>
          <a:prstGeom prst="rect">
            <a:avLst/>
          </a:prstGeom>
        </p:spPr>
      </p:pic>
      <p:sp>
        <p:nvSpPr>
          <p:cNvPr id="15" name="Text 10"/>
          <p:cNvSpPr/>
          <p:nvPr/>
        </p:nvSpPr>
        <p:spPr>
          <a:xfrm>
            <a:off x="992148" y="5529739"/>
            <a:ext cx="602551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Check your internet connection and log in again if needed</a:t>
            </a:r>
            <a:endParaRPr lang="en-US" sz="2100" dirty="0"/>
          </a:p>
        </p:txBody>
      </p:sp>
      <p:sp>
        <p:nvSpPr>
          <p:cNvPr id="16" name="Shape 11"/>
          <p:cNvSpPr/>
          <p:nvPr/>
        </p:nvSpPr>
        <p:spPr>
          <a:xfrm>
            <a:off x="7712035" y="4636889"/>
            <a:ext cx="6124456" cy="198358"/>
          </a:xfrm>
          <a:prstGeom prst="roundRect">
            <a:avLst>
              <a:gd name="adj" fmla="val 42025"/>
            </a:avLst>
          </a:prstGeom>
          <a:solidFill>
            <a:srgbClr val="E0D7F4"/>
          </a:solidFill>
          <a:ln w="7620">
            <a:solidFill>
              <a:srgbClr val="C6BDDA"/>
            </a:solidFill>
            <a:prstDash val="solid"/>
          </a:ln>
        </p:spPr>
      </p:sp>
      <p:sp>
        <p:nvSpPr>
          <p:cNvPr id="17" name="Shape 12"/>
          <p:cNvSpPr/>
          <p:nvPr/>
        </p:nvSpPr>
        <p:spPr>
          <a:xfrm>
            <a:off x="7414379" y="4438412"/>
            <a:ext cx="595313" cy="595313"/>
          </a:xfrm>
          <a:prstGeom prst="roundRect">
            <a:avLst>
              <a:gd name="adj" fmla="val 76800"/>
            </a:avLst>
          </a:prstGeom>
          <a:solidFill>
            <a:srgbClr val="E0D7F4"/>
          </a:solidFill>
          <a:ln w="7620">
            <a:solidFill>
              <a:srgbClr val="C6BDDA"/>
            </a:solidFill>
            <a:prstDash val="solid"/>
          </a:ln>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63207" y="4587240"/>
            <a:ext cx="297656" cy="297656"/>
          </a:xfrm>
          <a:prstGeom prst="rect">
            <a:avLst/>
          </a:prstGeom>
        </p:spPr>
      </p:pic>
      <p:sp>
        <p:nvSpPr>
          <p:cNvPr id="19" name="Text 13"/>
          <p:cNvSpPr/>
          <p:nvPr/>
        </p:nvSpPr>
        <p:spPr>
          <a:xfrm>
            <a:off x="7612737" y="5232083"/>
            <a:ext cx="602551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If problems continue, capture a screenshot and contact your admin or support</a:t>
            </a:r>
            <a:endParaRPr lang="en-US" sz="2100" dirty="0"/>
          </a:p>
        </p:txBody>
      </p:sp>
      <p:sp>
        <p:nvSpPr>
          <p:cNvPr id="20" name="Text 14"/>
          <p:cNvSpPr/>
          <p:nvPr/>
        </p:nvSpPr>
        <p:spPr>
          <a:xfrm>
            <a:off x="793790" y="663356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Encourage users not to panic. Show that most issues can be quickly tested with a few simple steps. Emphasize that sharing screenshots or exact error messages speeds up support.</a:t>
            </a:r>
            <a:endParaRPr lang="en-US" sz="15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93790" y="2059543"/>
            <a:ext cx="5457944"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Recap of Key Ideas</a:t>
            </a:r>
            <a:endParaRPr lang="en-US" sz="4250" dirty="0"/>
          </a:p>
        </p:txBody>
      </p:sp>
      <p:sp>
        <p:nvSpPr>
          <p:cNvPr id="3" name="Shape 1"/>
          <p:cNvSpPr/>
          <p:nvPr/>
        </p:nvSpPr>
        <p:spPr>
          <a:xfrm>
            <a:off x="793790" y="3138607"/>
            <a:ext cx="13042821" cy="2173129"/>
          </a:xfrm>
          <a:prstGeom prst="roundRect">
            <a:avLst>
              <a:gd name="adj" fmla="val 3836"/>
            </a:avLst>
          </a:prstGeom>
          <a:solidFill>
            <a:srgbClr val="E0D7F4"/>
          </a:solidFill>
          <a:ln w="7620">
            <a:solidFill>
              <a:srgbClr val="C6BDDA"/>
            </a:solidFill>
            <a:prstDash val="solid"/>
          </a:ln>
        </p:spPr>
      </p:sp>
      <p:sp>
        <p:nvSpPr>
          <p:cNvPr id="4" name="Shape 2"/>
          <p:cNvSpPr/>
          <p:nvPr/>
        </p:nvSpPr>
        <p:spPr>
          <a:xfrm>
            <a:off x="801410" y="3146227"/>
            <a:ext cx="6513790" cy="1078944"/>
          </a:xfrm>
          <a:prstGeom prst="roundRect">
            <a:avLst>
              <a:gd name="adj" fmla="val 7726"/>
            </a:avLst>
          </a:prstGeom>
          <a:solidFill>
            <a:srgbClr val="E0D7F4"/>
          </a:solidFill>
          <a:ln/>
        </p:spPr>
      </p:sp>
      <p:sp>
        <p:nvSpPr>
          <p:cNvPr id="5" name="Text 3"/>
          <p:cNvSpPr/>
          <p:nvPr/>
        </p:nvSpPr>
        <p:spPr>
          <a:xfrm>
            <a:off x="999768" y="3344585"/>
            <a:ext cx="611707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LibreChat is an open source hub for many AI models in one familiar chat interface.</a:t>
            </a:r>
            <a:endParaRPr lang="en-US" sz="2100" dirty="0"/>
          </a:p>
        </p:txBody>
      </p:sp>
      <p:sp>
        <p:nvSpPr>
          <p:cNvPr id="6" name="Shape 4"/>
          <p:cNvSpPr/>
          <p:nvPr/>
        </p:nvSpPr>
        <p:spPr>
          <a:xfrm>
            <a:off x="7315200" y="3146227"/>
            <a:ext cx="6513790" cy="1078944"/>
          </a:xfrm>
          <a:prstGeom prst="rect">
            <a:avLst/>
          </a:prstGeom>
          <a:solidFill>
            <a:srgbClr val="E0D7F4"/>
          </a:solidFill>
          <a:ln/>
        </p:spPr>
      </p:sp>
      <p:sp>
        <p:nvSpPr>
          <p:cNvPr id="7" name="Shape 5"/>
          <p:cNvSpPr/>
          <p:nvPr/>
        </p:nvSpPr>
        <p:spPr>
          <a:xfrm>
            <a:off x="7315200" y="3146227"/>
            <a:ext cx="22860" cy="1078944"/>
          </a:xfrm>
          <a:prstGeom prst="roundRect">
            <a:avLst>
              <a:gd name="adj" fmla="val 364651"/>
            </a:avLst>
          </a:prstGeom>
          <a:solidFill>
            <a:srgbClr val="C6BDDA"/>
          </a:solidFill>
          <a:ln/>
        </p:spPr>
      </p:sp>
      <p:sp>
        <p:nvSpPr>
          <p:cNvPr id="8" name="Text 6"/>
          <p:cNvSpPr/>
          <p:nvPr/>
        </p:nvSpPr>
        <p:spPr>
          <a:xfrm>
            <a:off x="7513558" y="3344585"/>
            <a:ext cx="611707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You interact with it through simple conversations, prompts, and follow up questions.</a:t>
            </a:r>
            <a:endParaRPr lang="en-US" sz="2100" dirty="0"/>
          </a:p>
        </p:txBody>
      </p:sp>
      <p:sp>
        <p:nvSpPr>
          <p:cNvPr id="9" name="Shape 7"/>
          <p:cNvSpPr/>
          <p:nvPr/>
        </p:nvSpPr>
        <p:spPr>
          <a:xfrm>
            <a:off x="801410" y="4225171"/>
            <a:ext cx="6513790" cy="1078944"/>
          </a:xfrm>
          <a:prstGeom prst="rect">
            <a:avLst/>
          </a:prstGeom>
          <a:solidFill>
            <a:srgbClr val="E0D7F4"/>
          </a:solidFill>
          <a:ln/>
        </p:spPr>
      </p:sp>
      <p:sp>
        <p:nvSpPr>
          <p:cNvPr id="10" name="Shape 8"/>
          <p:cNvSpPr/>
          <p:nvPr/>
        </p:nvSpPr>
        <p:spPr>
          <a:xfrm>
            <a:off x="801410" y="4225171"/>
            <a:ext cx="6513790" cy="22860"/>
          </a:xfrm>
          <a:prstGeom prst="roundRect">
            <a:avLst>
              <a:gd name="adj" fmla="val 364651"/>
            </a:avLst>
          </a:prstGeom>
          <a:solidFill>
            <a:srgbClr val="C6BDDA"/>
          </a:solidFill>
          <a:ln/>
        </p:spPr>
      </p:sp>
      <p:sp>
        <p:nvSpPr>
          <p:cNvPr id="11" name="Text 9"/>
          <p:cNvSpPr/>
          <p:nvPr/>
        </p:nvSpPr>
        <p:spPr>
          <a:xfrm>
            <a:off x="999768" y="4423529"/>
            <a:ext cx="611707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Features like presets, files, and exports help you build powerful workflows.</a:t>
            </a:r>
            <a:endParaRPr lang="en-US" sz="2100" dirty="0"/>
          </a:p>
        </p:txBody>
      </p:sp>
      <p:sp>
        <p:nvSpPr>
          <p:cNvPr id="12" name="Shape 10"/>
          <p:cNvSpPr/>
          <p:nvPr/>
        </p:nvSpPr>
        <p:spPr>
          <a:xfrm>
            <a:off x="7315200" y="4225171"/>
            <a:ext cx="6513790" cy="1078944"/>
          </a:xfrm>
          <a:prstGeom prst="rect">
            <a:avLst/>
          </a:prstGeom>
          <a:solidFill>
            <a:srgbClr val="E0D7F4"/>
          </a:solidFill>
          <a:ln/>
        </p:spPr>
      </p:sp>
      <p:sp>
        <p:nvSpPr>
          <p:cNvPr id="13" name="Shape 11"/>
          <p:cNvSpPr/>
          <p:nvPr/>
        </p:nvSpPr>
        <p:spPr>
          <a:xfrm>
            <a:off x="7315200" y="4225171"/>
            <a:ext cx="22860" cy="1078944"/>
          </a:xfrm>
          <a:prstGeom prst="roundRect">
            <a:avLst>
              <a:gd name="adj" fmla="val 364651"/>
            </a:avLst>
          </a:prstGeom>
          <a:solidFill>
            <a:srgbClr val="C6BDDA"/>
          </a:solidFill>
          <a:ln/>
        </p:spPr>
      </p:sp>
      <p:sp>
        <p:nvSpPr>
          <p:cNvPr id="14" name="Shape 12"/>
          <p:cNvSpPr/>
          <p:nvPr/>
        </p:nvSpPr>
        <p:spPr>
          <a:xfrm>
            <a:off x="7315200" y="4225171"/>
            <a:ext cx="6513790" cy="22860"/>
          </a:xfrm>
          <a:prstGeom prst="roundRect">
            <a:avLst>
              <a:gd name="adj" fmla="val 364651"/>
            </a:avLst>
          </a:prstGeom>
          <a:solidFill>
            <a:srgbClr val="C6BDDA"/>
          </a:solidFill>
          <a:ln/>
        </p:spPr>
      </p:sp>
      <p:sp>
        <p:nvSpPr>
          <p:cNvPr id="15" name="Text 13"/>
          <p:cNvSpPr/>
          <p:nvPr/>
        </p:nvSpPr>
        <p:spPr>
          <a:xfrm>
            <a:off x="7513558" y="4423529"/>
            <a:ext cx="611707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Safe, thoughtful use and basic troubleshooting make it a reliable daily tool.</a:t>
            </a:r>
            <a:endParaRPr lang="en-US" sz="2100" dirty="0"/>
          </a:p>
        </p:txBody>
      </p:sp>
      <p:sp>
        <p:nvSpPr>
          <p:cNvPr id="16" name="Text 14"/>
          <p:cNvSpPr/>
          <p:nvPr/>
        </p:nvSpPr>
        <p:spPr>
          <a:xfrm>
            <a:off x="793790" y="553497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Briefly revisit each bullet, connecting back to the sections of the presentation. Ask the audience to think of one concrete scenario where they will try LibreChat this week.</a:t>
            </a:r>
            <a:endParaRPr lang="en-US" sz="15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793790" y="1547813"/>
            <a:ext cx="5457944"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Your Next Steps</a:t>
            </a:r>
            <a:endParaRPr lang="en-US" sz="4250" dirty="0"/>
          </a:p>
        </p:txBody>
      </p:sp>
      <p:sp>
        <p:nvSpPr>
          <p:cNvPr id="3" name="Text 1"/>
          <p:cNvSpPr/>
          <p:nvPr/>
        </p:nvSpPr>
        <p:spPr>
          <a:xfrm>
            <a:off x="793790" y="2527697"/>
            <a:ext cx="7532013" cy="941427"/>
          </a:xfrm>
          <a:prstGeom prst="rect">
            <a:avLst/>
          </a:prstGeom>
          <a:noFill/>
          <a:ln/>
        </p:spPr>
        <p:txBody>
          <a:bodyPr wrap="none" lIns="0" tIns="0" rIns="0" bIns="0" rtlCol="0" anchor="t"/>
          <a:lstStyle/>
          <a:p>
            <a:pPr algn="l" indent="0" marL="0">
              <a:lnSpc>
                <a:spcPts val="7400"/>
              </a:lnSpc>
              <a:buNone/>
            </a:pPr>
            <a:r>
              <a:rPr lang="en-US" sz="5900" b="1" dirty="0">
                <a:solidFill>
                  <a:srgbClr val="28282F"/>
                </a:solidFill>
                <a:latin typeface="Petrona Bold" pitchFamily="34" charset="0"/>
                <a:ea typeface="Petrona Bold" pitchFamily="34" charset="-122"/>
                <a:cs typeface="Petrona Bold" pitchFamily="34" charset="-120"/>
              </a:rPr>
              <a:t>Start now</a:t>
            </a:r>
            <a:endParaRPr lang="en-US" sz="5900" dirty="0"/>
          </a:p>
        </p:txBody>
      </p:sp>
      <p:sp>
        <p:nvSpPr>
          <p:cNvPr id="4" name="Shape 2"/>
          <p:cNvSpPr/>
          <p:nvPr/>
        </p:nvSpPr>
        <p:spPr>
          <a:xfrm>
            <a:off x="793790" y="3766780"/>
            <a:ext cx="446484" cy="446484"/>
          </a:xfrm>
          <a:prstGeom prst="roundRect">
            <a:avLst>
              <a:gd name="adj" fmla="val 18670"/>
            </a:avLst>
          </a:prstGeom>
          <a:solidFill>
            <a:srgbClr val="E0D7F4"/>
          </a:solidFill>
          <a:ln w="7620">
            <a:solidFill>
              <a:srgbClr val="C6BDDA"/>
            </a:solidFill>
            <a:prstDash val="solid"/>
          </a:ln>
        </p:spPr>
      </p:sp>
      <p:sp>
        <p:nvSpPr>
          <p:cNvPr id="5" name="Text 3"/>
          <p:cNvSpPr/>
          <p:nvPr/>
        </p:nvSpPr>
        <p:spPr>
          <a:xfrm>
            <a:off x="853321" y="3785354"/>
            <a:ext cx="327422" cy="409337"/>
          </a:xfrm>
          <a:prstGeom prst="rect">
            <a:avLst/>
          </a:prstGeom>
          <a:noFill/>
          <a:ln/>
        </p:spPr>
        <p:txBody>
          <a:bodyPr wrap="none" lIns="0" tIns="0" rIns="0" bIns="0" rtlCol="0" anchor="t"/>
          <a:lstStyle/>
          <a:p>
            <a:pPr algn="ctr" indent="0" marL="0">
              <a:lnSpc>
                <a:spcPts val="2550"/>
              </a:lnSpc>
              <a:buNone/>
            </a:pPr>
            <a:r>
              <a:rPr lang="en-US" sz="2550" b="1" dirty="0">
                <a:solidFill>
                  <a:srgbClr val="272525"/>
                </a:solidFill>
                <a:latin typeface="Petrona Bold" pitchFamily="34" charset="0"/>
                <a:ea typeface="Petrona Bold" pitchFamily="34" charset="-122"/>
                <a:cs typeface="Petrona Bold" pitchFamily="34" charset="-120"/>
              </a:rPr>
              <a:t>1</a:t>
            </a:r>
            <a:endParaRPr lang="en-US" sz="2550" dirty="0"/>
          </a:p>
        </p:txBody>
      </p:sp>
      <p:sp>
        <p:nvSpPr>
          <p:cNvPr id="6" name="Text 4"/>
          <p:cNvSpPr/>
          <p:nvPr/>
        </p:nvSpPr>
        <p:spPr>
          <a:xfrm>
            <a:off x="1438632" y="3835003"/>
            <a:ext cx="575250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Log in to your LibreChat instance and start one simple chat today.</a:t>
            </a:r>
            <a:endParaRPr lang="en-US" sz="2100" dirty="0"/>
          </a:p>
        </p:txBody>
      </p:sp>
      <p:sp>
        <p:nvSpPr>
          <p:cNvPr id="7" name="Shape 5"/>
          <p:cNvSpPr/>
          <p:nvPr/>
        </p:nvSpPr>
        <p:spPr>
          <a:xfrm>
            <a:off x="7439144" y="3766780"/>
            <a:ext cx="446484" cy="446484"/>
          </a:xfrm>
          <a:prstGeom prst="roundRect">
            <a:avLst>
              <a:gd name="adj" fmla="val 18670"/>
            </a:avLst>
          </a:prstGeom>
          <a:solidFill>
            <a:srgbClr val="E0D7F4"/>
          </a:solidFill>
          <a:ln w="7620">
            <a:solidFill>
              <a:srgbClr val="C6BDDA"/>
            </a:solidFill>
            <a:prstDash val="solid"/>
          </a:ln>
        </p:spPr>
      </p:sp>
      <p:sp>
        <p:nvSpPr>
          <p:cNvPr id="8" name="Text 6"/>
          <p:cNvSpPr/>
          <p:nvPr/>
        </p:nvSpPr>
        <p:spPr>
          <a:xfrm>
            <a:off x="7498675" y="3785354"/>
            <a:ext cx="327422" cy="409337"/>
          </a:xfrm>
          <a:prstGeom prst="rect">
            <a:avLst/>
          </a:prstGeom>
          <a:noFill/>
          <a:ln/>
        </p:spPr>
        <p:txBody>
          <a:bodyPr wrap="none" lIns="0" tIns="0" rIns="0" bIns="0" rtlCol="0" anchor="t"/>
          <a:lstStyle/>
          <a:p>
            <a:pPr algn="ctr" indent="0" marL="0">
              <a:lnSpc>
                <a:spcPts val="2550"/>
              </a:lnSpc>
              <a:buNone/>
            </a:pPr>
            <a:r>
              <a:rPr lang="en-US" sz="2550" b="1" dirty="0">
                <a:solidFill>
                  <a:srgbClr val="272525"/>
                </a:solidFill>
                <a:latin typeface="Petrona Bold" pitchFamily="34" charset="0"/>
                <a:ea typeface="Petrona Bold" pitchFamily="34" charset="-122"/>
                <a:cs typeface="Petrona Bold" pitchFamily="34" charset="-120"/>
              </a:rPr>
              <a:t>2</a:t>
            </a:r>
            <a:endParaRPr lang="en-US" sz="2550" dirty="0"/>
          </a:p>
        </p:txBody>
      </p:sp>
      <p:sp>
        <p:nvSpPr>
          <p:cNvPr id="9" name="Text 7"/>
          <p:cNvSpPr/>
          <p:nvPr/>
        </p:nvSpPr>
        <p:spPr>
          <a:xfrm>
            <a:off x="8083987" y="3835003"/>
            <a:ext cx="575262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Create one preset that matches your main daily task, such as "Email helper."</a:t>
            </a:r>
            <a:endParaRPr lang="en-US" sz="2100" dirty="0"/>
          </a:p>
        </p:txBody>
      </p:sp>
      <p:sp>
        <p:nvSpPr>
          <p:cNvPr id="10" name="Shape 8"/>
          <p:cNvSpPr/>
          <p:nvPr/>
        </p:nvSpPr>
        <p:spPr>
          <a:xfrm>
            <a:off x="793790" y="4914067"/>
            <a:ext cx="446484" cy="446484"/>
          </a:xfrm>
          <a:prstGeom prst="roundRect">
            <a:avLst>
              <a:gd name="adj" fmla="val 18670"/>
            </a:avLst>
          </a:prstGeom>
          <a:solidFill>
            <a:srgbClr val="E0D7F4"/>
          </a:solidFill>
          <a:ln w="7620">
            <a:solidFill>
              <a:srgbClr val="C6BDDA"/>
            </a:solidFill>
            <a:prstDash val="solid"/>
          </a:ln>
        </p:spPr>
      </p:sp>
      <p:sp>
        <p:nvSpPr>
          <p:cNvPr id="11" name="Text 9"/>
          <p:cNvSpPr/>
          <p:nvPr/>
        </p:nvSpPr>
        <p:spPr>
          <a:xfrm>
            <a:off x="853321" y="4932640"/>
            <a:ext cx="327422" cy="409337"/>
          </a:xfrm>
          <a:prstGeom prst="rect">
            <a:avLst/>
          </a:prstGeom>
          <a:noFill/>
          <a:ln/>
        </p:spPr>
        <p:txBody>
          <a:bodyPr wrap="none" lIns="0" tIns="0" rIns="0" bIns="0" rtlCol="0" anchor="t"/>
          <a:lstStyle/>
          <a:p>
            <a:pPr algn="ctr" indent="0" marL="0">
              <a:lnSpc>
                <a:spcPts val="2550"/>
              </a:lnSpc>
              <a:buNone/>
            </a:pPr>
            <a:r>
              <a:rPr lang="en-US" sz="2550" b="1" dirty="0">
                <a:solidFill>
                  <a:srgbClr val="272525"/>
                </a:solidFill>
                <a:latin typeface="Petrona Bold" pitchFamily="34" charset="0"/>
                <a:ea typeface="Petrona Bold" pitchFamily="34" charset="-122"/>
                <a:cs typeface="Petrona Bold" pitchFamily="34" charset="-120"/>
              </a:rPr>
              <a:t>3</a:t>
            </a:r>
            <a:endParaRPr lang="en-US" sz="2550" dirty="0"/>
          </a:p>
        </p:txBody>
      </p:sp>
      <p:sp>
        <p:nvSpPr>
          <p:cNvPr id="12" name="Text 10"/>
          <p:cNvSpPr/>
          <p:nvPr/>
        </p:nvSpPr>
        <p:spPr>
          <a:xfrm>
            <a:off x="1438632" y="4982289"/>
            <a:ext cx="575250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Try one file upload task, for example "Summarize this PDF in 5 bullets."</a:t>
            </a:r>
            <a:endParaRPr lang="en-US" sz="2100" dirty="0"/>
          </a:p>
        </p:txBody>
      </p:sp>
      <p:sp>
        <p:nvSpPr>
          <p:cNvPr id="13" name="Shape 11"/>
          <p:cNvSpPr/>
          <p:nvPr/>
        </p:nvSpPr>
        <p:spPr>
          <a:xfrm>
            <a:off x="7439144" y="4914067"/>
            <a:ext cx="446484" cy="446484"/>
          </a:xfrm>
          <a:prstGeom prst="roundRect">
            <a:avLst>
              <a:gd name="adj" fmla="val 18670"/>
            </a:avLst>
          </a:prstGeom>
          <a:solidFill>
            <a:srgbClr val="E0D7F4"/>
          </a:solidFill>
          <a:ln w="7620">
            <a:solidFill>
              <a:srgbClr val="C6BDDA"/>
            </a:solidFill>
            <a:prstDash val="solid"/>
          </a:ln>
        </p:spPr>
      </p:sp>
      <p:sp>
        <p:nvSpPr>
          <p:cNvPr id="14" name="Text 12"/>
          <p:cNvSpPr/>
          <p:nvPr/>
        </p:nvSpPr>
        <p:spPr>
          <a:xfrm>
            <a:off x="7498675" y="4932640"/>
            <a:ext cx="327422" cy="409337"/>
          </a:xfrm>
          <a:prstGeom prst="rect">
            <a:avLst/>
          </a:prstGeom>
          <a:noFill/>
          <a:ln/>
        </p:spPr>
        <p:txBody>
          <a:bodyPr wrap="none" lIns="0" tIns="0" rIns="0" bIns="0" rtlCol="0" anchor="t"/>
          <a:lstStyle/>
          <a:p>
            <a:pPr algn="ctr" indent="0" marL="0">
              <a:lnSpc>
                <a:spcPts val="2550"/>
              </a:lnSpc>
              <a:buNone/>
            </a:pPr>
            <a:r>
              <a:rPr lang="en-US" sz="2550" b="1" dirty="0">
                <a:solidFill>
                  <a:srgbClr val="272525"/>
                </a:solidFill>
                <a:latin typeface="Petrona Bold" pitchFamily="34" charset="0"/>
                <a:ea typeface="Petrona Bold" pitchFamily="34" charset="-122"/>
                <a:cs typeface="Petrona Bold" pitchFamily="34" charset="-120"/>
              </a:rPr>
              <a:t>4</a:t>
            </a:r>
            <a:endParaRPr lang="en-US" sz="2550" dirty="0"/>
          </a:p>
        </p:txBody>
      </p:sp>
      <p:sp>
        <p:nvSpPr>
          <p:cNvPr id="15" name="Text 13"/>
          <p:cNvSpPr/>
          <p:nvPr/>
        </p:nvSpPr>
        <p:spPr>
          <a:xfrm>
            <a:off x="8083987" y="4982289"/>
            <a:ext cx="5752624"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Note any questions or issues and share them with your team or support.</a:t>
            </a:r>
            <a:endParaRPr lang="en-US" sz="2100" dirty="0"/>
          </a:p>
        </p:txBody>
      </p:sp>
      <p:sp>
        <p:nvSpPr>
          <p:cNvPr id="16" name="Text 14"/>
          <p:cNvSpPr/>
          <p:nvPr/>
        </p:nvSpPr>
        <p:spPr>
          <a:xfrm>
            <a:off x="793790" y="5887760"/>
            <a:ext cx="13042821" cy="793909"/>
          </a:xfrm>
          <a:prstGeom prst="rect">
            <a:avLst/>
          </a:prstGeom>
          <a:noFill/>
          <a:ln/>
        </p:spPr>
        <p:txBody>
          <a:bodyPr wrap="square" lIns="0" tIns="0" rIns="0" bIns="0" rtlCol="0" anchor="t"/>
          <a:lstStyle/>
          <a:p>
            <a:pPr algn="l" indent="0" marL="0">
              <a:lnSpc>
                <a:spcPts val="3100"/>
              </a:lnSpc>
              <a:buNone/>
            </a:pPr>
            <a:r>
              <a:rPr lang="en-US" sz="1950" dirty="0">
                <a:solidFill>
                  <a:srgbClr val="272525"/>
                </a:solidFill>
                <a:latin typeface="Inter" pitchFamily="34" charset="0"/>
                <a:ea typeface="Inter" pitchFamily="34" charset="-122"/>
                <a:cs typeface="Inter" pitchFamily="34" charset="-120"/>
              </a:rPr>
              <a:t>Turn the recap into action. Encourage users not to wait, because familiarity comes from use. Suggest that teams share their favorite prompts and presets with each other to accelerate learning.</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2025-11-16T14:34:30Z</dcterms:created>
  <dcterms:modified xsi:type="dcterms:W3CDTF">2025-11-16T14:34:30Z</dcterms:modified>
</cp:coreProperties>
</file>